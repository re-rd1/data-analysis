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mono Smile" userId="a992df54412307d3" providerId="LiveId" clId="{7C58FADF-C554-4F47-9AE1-78EA35EF84F0}"/>
    <pc:docChg chg="undo custSel modSld">
      <pc:chgData name="Rismono Smile" userId="a992df54412307d3" providerId="LiveId" clId="{7C58FADF-C554-4F47-9AE1-78EA35EF84F0}" dt="2026-10-06T10:54:01.296" v="111" actId="207"/>
      <pc:docMkLst>
        <pc:docMk/>
      </pc:docMkLst>
      <pc:sldChg chg="modSp mod">
        <pc:chgData name="Rismono Smile" userId="a992df54412307d3" providerId="LiveId" clId="{7C58FADF-C554-4F47-9AE1-78EA35EF84F0}" dt="2026-10-04T13:06:44.768" v="1" actId="1076"/>
        <pc:sldMkLst>
          <pc:docMk/>
          <pc:sldMk cId="0" sldId="263"/>
        </pc:sldMkLst>
        <pc:spChg chg="mod">
          <ac:chgData name="Rismono Smile" userId="a992df54412307d3" providerId="LiveId" clId="{7C58FADF-C554-4F47-9AE1-78EA35EF84F0}" dt="2026-10-04T13:06:44.768" v="1" actId="1076"/>
          <ac:spMkLst>
            <pc:docMk/>
            <pc:sldMk cId="0" sldId="263"/>
            <ac:spMk id="248" creationId="{00000000-0000-0000-0000-000000000000}"/>
          </ac:spMkLst>
        </pc:spChg>
      </pc:sldChg>
      <pc:sldChg chg="modSp mod">
        <pc:chgData name="Rismono Smile" userId="a992df54412307d3" providerId="LiveId" clId="{7C58FADF-C554-4F47-9AE1-78EA35EF84F0}" dt="2026-10-06T08:57:38.942" v="59" actId="20577"/>
        <pc:sldMkLst>
          <pc:docMk/>
          <pc:sldMk cId="0" sldId="264"/>
        </pc:sldMkLst>
        <pc:spChg chg="mod">
          <ac:chgData name="Rismono Smile" userId="a992df54412307d3" providerId="LiveId" clId="{7C58FADF-C554-4F47-9AE1-78EA35EF84F0}" dt="2026-10-06T08:57:38.942" v="59" actId="20577"/>
          <ac:spMkLst>
            <pc:docMk/>
            <pc:sldMk cId="0" sldId="264"/>
            <ac:spMk id="266" creationId="{00000000-0000-0000-0000-000000000000}"/>
          </ac:spMkLst>
        </pc:spChg>
      </pc:sldChg>
      <pc:sldChg chg="modSp mod">
        <pc:chgData name="Rismono Smile" userId="a992df54412307d3" providerId="LiveId" clId="{7C58FADF-C554-4F47-9AE1-78EA35EF84F0}" dt="2026-10-06T10:34:29.210" v="80" actId="20577"/>
        <pc:sldMkLst>
          <pc:docMk/>
          <pc:sldMk cId="0" sldId="265"/>
        </pc:sldMkLst>
        <pc:spChg chg="mod">
          <ac:chgData name="Rismono Smile" userId="a992df54412307d3" providerId="LiveId" clId="{7C58FADF-C554-4F47-9AE1-78EA35EF84F0}" dt="2026-10-06T10:34:29.210" v="80" actId="20577"/>
          <ac:spMkLst>
            <pc:docMk/>
            <pc:sldMk cId="0" sldId="265"/>
            <ac:spMk id="272" creationId="{00000000-0000-0000-0000-000000000000}"/>
          </ac:spMkLst>
        </pc:spChg>
        <pc:spChg chg="mod">
          <ac:chgData name="Rismono Smile" userId="a992df54412307d3" providerId="LiveId" clId="{7C58FADF-C554-4F47-9AE1-78EA35EF84F0}" dt="2026-10-05T00:20:25.487" v="26" actId="20577"/>
          <ac:spMkLst>
            <pc:docMk/>
            <pc:sldMk cId="0" sldId="265"/>
            <ac:spMk id="283" creationId="{00000000-0000-0000-0000-000000000000}"/>
          </ac:spMkLst>
        </pc:spChg>
        <pc:spChg chg="mod">
          <ac:chgData name="Rismono Smile" userId="a992df54412307d3" providerId="LiveId" clId="{7C58FADF-C554-4F47-9AE1-78EA35EF84F0}" dt="2026-10-05T00:28:34.076" v="29" actId="20577"/>
          <ac:spMkLst>
            <pc:docMk/>
            <pc:sldMk cId="0" sldId="265"/>
            <ac:spMk id="288" creationId="{00000000-0000-0000-0000-000000000000}"/>
          </ac:spMkLst>
        </pc:spChg>
      </pc:sldChg>
      <pc:sldChg chg="modSp mod">
        <pc:chgData name="Rismono Smile" userId="a992df54412307d3" providerId="LiveId" clId="{7C58FADF-C554-4F47-9AE1-78EA35EF84F0}" dt="2026-10-06T10:54:01.296" v="111" actId="207"/>
        <pc:sldMkLst>
          <pc:docMk/>
          <pc:sldMk cId="0" sldId="268"/>
        </pc:sldMkLst>
        <pc:spChg chg="mod">
          <ac:chgData name="Rismono Smile" userId="a992df54412307d3" providerId="LiveId" clId="{7C58FADF-C554-4F47-9AE1-78EA35EF84F0}" dt="2026-10-06T10:53:55.410" v="110" actId="207"/>
          <ac:spMkLst>
            <pc:docMk/>
            <pc:sldMk cId="0" sldId="268"/>
            <ac:spMk id="322" creationId="{00000000-0000-0000-0000-000000000000}"/>
          </ac:spMkLst>
        </pc:spChg>
        <pc:spChg chg="mod">
          <ac:chgData name="Rismono Smile" userId="a992df54412307d3" providerId="LiveId" clId="{7C58FADF-C554-4F47-9AE1-78EA35EF84F0}" dt="2026-10-06T10:42:37.307" v="82" actId="20577"/>
          <ac:spMkLst>
            <pc:docMk/>
            <pc:sldMk cId="0" sldId="268"/>
            <ac:spMk id="325" creationId="{00000000-0000-0000-0000-000000000000}"/>
          </ac:spMkLst>
        </pc:spChg>
        <pc:spChg chg="mod">
          <ac:chgData name="Rismono Smile" userId="a992df54412307d3" providerId="LiveId" clId="{7C58FADF-C554-4F47-9AE1-78EA35EF84F0}" dt="2026-10-06T10:54:01.296" v="111" actId="207"/>
          <ac:spMkLst>
            <pc:docMk/>
            <pc:sldMk cId="0" sldId="268"/>
            <ac:spMk id="326" creationId="{00000000-0000-0000-0000-000000000000}"/>
          </ac:spMkLst>
        </pc:spChg>
        <pc:spChg chg="mod">
          <ac:chgData name="Rismono Smile" userId="a992df54412307d3" providerId="LiveId" clId="{7C58FADF-C554-4F47-9AE1-78EA35EF84F0}" dt="2026-10-06T10:42:40.491" v="86" actId="20577"/>
          <ac:spMkLst>
            <pc:docMk/>
            <pc:sldMk cId="0" sldId="268"/>
            <ac:spMk id="330" creationId="{00000000-0000-0000-0000-000000000000}"/>
          </ac:spMkLst>
        </pc:spChg>
        <pc:spChg chg="mod">
          <ac:chgData name="Rismono Smile" userId="a992df54412307d3" providerId="LiveId" clId="{7C58FADF-C554-4F47-9AE1-78EA35EF84F0}" dt="2026-10-06T10:42:48.672" v="96" actId="20577"/>
          <ac:spMkLst>
            <pc:docMk/>
            <pc:sldMk cId="0" sldId="268"/>
            <ac:spMk id="335" creationId="{00000000-0000-0000-0000-000000000000}"/>
          </ac:spMkLst>
        </pc:spChg>
        <pc:spChg chg="mod">
          <ac:chgData name="Rismono Smile" userId="a992df54412307d3" providerId="LiveId" clId="{7C58FADF-C554-4F47-9AE1-78EA35EF84F0}" dt="2026-10-06T10:51:21.139" v="104" actId="20577"/>
          <ac:spMkLst>
            <pc:docMk/>
            <pc:sldMk cId="0" sldId="268"/>
            <ac:spMk id="338" creationId="{00000000-0000-0000-0000-000000000000}"/>
          </ac:spMkLst>
        </pc:spChg>
      </pc:sldChg>
      <pc:sldChg chg="modSp mod">
        <pc:chgData name="Rismono Smile" userId="a992df54412307d3" providerId="LiveId" clId="{7C58FADF-C554-4F47-9AE1-78EA35EF84F0}" dt="2026-10-05T00:29:24.607" v="48" actId="20577"/>
        <pc:sldMkLst>
          <pc:docMk/>
          <pc:sldMk cId="0" sldId="269"/>
        </pc:sldMkLst>
        <pc:spChg chg="mod">
          <ac:chgData name="Rismono Smile" userId="a992df54412307d3" providerId="LiveId" clId="{7C58FADF-C554-4F47-9AE1-78EA35EF84F0}" dt="2026-10-05T00:29:24.607" v="48" actId="20577"/>
          <ac:spMkLst>
            <pc:docMk/>
            <pc:sldMk cId="0" sldId="269"/>
            <ac:spMk id="352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D33DF3-5806-4697-8E4F-6214B0A5C25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6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8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58E8AF1-5EAC-4185-89CD-843E9744BAF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vert="eaVert"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1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3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5822B61-85E1-4259-A7E8-AAF330CA8F1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C009429-970D-44E4-A4E0-F1EE6F82ED7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 Head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3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A1639B-F052-4841-9CE5-66DDFBD64B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6963E63-A0EC-4E28-A01C-11CFD3B2FAA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mparis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1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3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35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37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28F8FB3-871D-4BD8-8A0C-EC724E5D79F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/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</a:p>
        </p:txBody>
      </p:sp>
      <p:sp>
        <p:nvSpPr>
          <p:cNvPr id="39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1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D5D92B1-36BD-484C-B694-F6B97877D93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44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9DC5F7E-9604-46E4-8537-79CB6FD5B12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46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  <a:p>
            <a:pPr marL="743040" lvl="1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</a:p>
          <a:p>
            <a:pPr marL="1143000" lvl="2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</a:p>
          <a:p>
            <a:pPr marL="1600200" lvl="3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</a:p>
          <a:p>
            <a:pPr marL="2057400" lvl="4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3F37073-F950-46BC-983D-3EE44731825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icture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/>
          <a:p>
            <a:pPr indent="0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/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C51C72F-07E2-49D4-A26E-6CD03DCA854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‹#›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Picture 1" descr="sinarmas_land_cover.png"/>
          <p:cNvPicPr/>
          <p:nvPr/>
        </p:nvPicPr>
        <p:blipFill>
          <a:blip r:embed="rId2"/>
          <a:stretch/>
        </p:blipFill>
        <p:spPr>
          <a:xfrm>
            <a:off x="6446520" y="0"/>
            <a:ext cx="574200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0" name="Rectangle 2"/>
          <p:cNvSpPr/>
          <p:nvPr/>
        </p:nvSpPr>
        <p:spPr>
          <a:xfrm>
            <a:off x="6126480" y="0"/>
            <a:ext cx="6062040" cy="6857640"/>
          </a:xfrm>
          <a:prstGeom prst="rect">
            <a:avLst/>
          </a:prstGeom>
          <a:solidFill>
            <a:srgbClr val="0F1928"/>
          </a:solidFill>
          <a:ln>
            <a:solidFill>
              <a:srgbClr val="0F19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Box 3"/>
          <p:cNvSpPr/>
          <p:nvPr/>
        </p:nvSpPr>
        <p:spPr>
          <a:xfrm>
            <a:off x="658440" y="640080"/>
            <a:ext cx="521172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SINAR MAS LAND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4"/>
          <p:cNvSpPr/>
          <p:nvPr/>
        </p:nvSpPr>
        <p:spPr>
          <a:xfrm>
            <a:off x="658440" y="1417320"/>
            <a:ext cx="5668920" cy="1416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Penagihan IPL &amp;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Pengelolaan Kawasan</a:t>
            </a:r>
            <a:endParaRPr lang="en-US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TextBox 5"/>
          <p:cNvSpPr/>
          <p:nvPr/>
        </p:nvSpPr>
        <p:spPr>
          <a:xfrm>
            <a:off x="685800" y="2971800"/>
            <a:ext cx="493740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000" b="1" u="none" strike="noStrike">
                <a:solidFill>
                  <a:srgbClr val="E8A94C"/>
                </a:solidFill>
                <a:effectLst/>
                <a:uFillTx/>
                <a:latin typeface="Aptos"/>
              </a:rPr>
              <a:t>Laporan Analisis Data</a:t>
            </a:r>
            <a:endParaRPr lang="en-US" sz="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Box 6"/>
          <p:cNvSpPr/>
          <p:nvPr/>
        </p:nvSpPr>
        <p:spPr>
          <a:xfrm>
            <a:off x="685800" y="3566160"/>
            <a:ext cx="5394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Proyek Capstone 2 • Pemahaman Data → EDA → Analisis Bisnis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Rectangle 7"/>
          <p:cNvSpPr/>
          <p:nvPr/>
        </p:nvSpPr>
        <p:spPr>
          <a:xfrm>
            <a:off x="685800" y="4343400"/>
            <a:ext cx="1416960" cy="6372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19080" rIns="90000" bIns="1908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8"/>
          <p:cNvSpPr/>
          <p:nvPr/>
        </p:nvSpPr>
        <p:spPr>
          <a:xfrm>
            <a:off x="685800" y="4709160"/>
            <a:ext cx="530316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Pemulihan Pendapatan • Kualitas Data • Pengendalian Penagihan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9"/>
          <p:cNvSpPr/>
          <p:nvPr/>
        </p:nvSpPr>
        <p:spPr>
          <a:xfrm>
            <a:off x="685800" y="6053400"/>
            <a:ext cx="4114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Prepared for Laporan Analisis Data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TextBox 10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9" name="TextBox 11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01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extBox 1"/>
          <p:cNvSpPr/>
          <p:nvPr/>
        </p:nvSpPr>
        <p:spPr>
          <a:xfrm>
            <a:off x="594360" y="3841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DAFTAR ISI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594360" y="6948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Alur Analisis dalam Lima Tahap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777240" y="182880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01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1417320" y="181044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Konteks Bisnis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Box 6"/>
          <p:cNvSpPr/>
          <p:nvPr/>
        </p:nvSpPr>
        <p:spPr>
          <a:xfrm>
            <a:off x="4251960" y="181044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F64"/>
                </a:solidFill>
                <a:effectLst/>
                <a:uFillTx/>
                <a:latin typeface="Aptos"/>
              </a:rPr>
              <a:t>Mengapa penagihan IPL dan kualitas data penagihan penting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Rectangle 7"/>
          <p:cNvSpPr/>
          <p:nvPr/>
        </p:nvSpPr>
        <p:spPr>
          <a:xfrm>
            <a:off x="1417320" y="2258640"/>
            <a:ext cx="9326520" cy="10440"/>
          </a:xfrm>
          <a:prstGeom prst="rect">
            <a:avLst/>
          </a:prstGeom>
          <a:solidFill>
            <a:srgbClr val="D2D7D4"/>
          </a:solidFill>
          <a:ln>
            <a:solidFill>
              <a:srgbClr val="D2D7D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8"/>
          <p:cNvSpPr/>
          <p:nvPr/>
        </p:nvSpPr>
        <p:spPr>
          <a:xfrm>
            <a:off x="777240" y="265176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Box 9"/>
          <p:cNvSpPr/>
          <p:nvPr/>
        </p:nvSpPr>
        <p:spPr>
          <a:xfrm>
            <a:off x="1417320" y="263340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Fondasi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Box 10"/>
          <p:cNvSpPr/>
          <p:nvPr/>
        </p:nvSpPr>
        <p:spPr>
          <a:xfrm>
            <a:off x="4251960" y="263340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F64"/>
                </a:solidFill>
                <a:effectLst/>
                <a:uFillTx/>
                <a:latin typeface="Aptos"/>
              </a:rPr>
              <a:t>Struktur dataset, pemeriksaan kualitas, dan persiapan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11"/>
          <p:cNvSpPr/>
          <p:nvPr/>
        </p:nvSpPr>
        <p:spPr>
          <a:xfrm>
            <a:off x="1417320" y="3081600"/>
            <a:ext cx="9326520" cy="10440"/>
          </a:xfrm>
          <a:prstGeom prst="rect">
            <a:avLst/>
          </a:prstGeom>
          <a:solidFill>
            <a:srgbClr val="D2D7D4"/>
          </a:solidFill>
          <a:ln>
            <a:solidFill>
              <a:srgbClr val="D2D7D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1" name="TextBox 12"/>
          <p:cNvSpPr/>
          <p:nvPr/>
        </p:nvSpPr>
        <p:spPr>
          <a:xfrm>
            <a:off x="777240" y="347472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03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Box 13"/>
          <p:cNvSpPr/>
          <p:nvPr/>
        </p:nvSpPr>
        <p:spPr>
          <a:xfrm>
            <a:off x="1417320" y="345636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Apa yang Diceritakan Data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TextBox 14"/>
          <p:cNvSpPr/>
          <p:nvPr/>
        </p:nvSpPr>
        <p:spPr>
          <a:xfrm>
            <a:off x="4251960" y="345636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F64"/>
                </a:solidFill>
                <a:effectLst/>
                <a:uFillTx/>
                <a:latin typeface="Aptos"/>
              </a:rPr>
              <a:t>Pembayaran, status hunian, wilayah, dan kualitas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Rectangle 15"/>
          <p:cNvSpPr/>
          <p:nvPr/>
        </p:nvSpPr>
        <p:spPr>
          <a:xfrm>
            <a:off x="1417320" y="3904560"/>
            <a:ext cx="9326520" cy="10440"/>
          </a:xfrm>
          <a:prstGeom prst="rect">
            <a:avLst/>
          </a:prstGeom>
          <a:solidFill>
            <a:srgbClr val="D2D7D4"/>
          </a:solidFill>
          <a:ln>
            <a:solidFill>
              <a:srgbClr val="D2D7D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16"/>
          <p:cNvSpPr/>
          <p:nvPr/>
        </p:nvSpPr>
        <p:spPr>
          <a:xfrm>
            <a:off x="777240" y="429768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04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17"/>
          <p:cNvSpPr/>
          <p:nvPr/>
        </p:nvSpPr>
        <p:spPr>
          <a:xfrm>
            <a:off x="1417320" y="427932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Dampak Bisnis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18"/>
          <p:cNvSpPr/>
          <p:nvPr/>
        </p:nvSpPr>
        <p:spPr>
          <a:xfrm>
            <a:off x="4251960" y="427932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F64"/>
                </a:solidFill>
                <a:effectLst/>
                <a:uFillTx/>
                <a:latin typeface="Aptos"/>
              </a:rPr>
              <a:t>Makna temuan bagi penagihan dan operasional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Rectangle 19"/>
          <p:cNvSpPr/>
          <p:nvPr/>
        </p:nvSpPr>
        <p:spPr>
          <a:xfrm>
            <a:off x="1417320" y="4727520"/>
            <a:ext cx="9326520" cy="10440"/>
          </a:xfrm>
          <a:prstGeom prst="rect">
            <a:avLst/>
          </a:prstGeom>
          <a:solidFill>
            <a:srgbClr val="D2D7D4"/>
          </a:solidFill>
          <a:ln>
            <a:solidFill>
              <a:srgbClr val="D2D7D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9" name="TextBox 20"/>
          <p:cNvSpPr/>
          <p:nvPr/>
        </p:nvSpPr>
        <p:spPr>
          <a:xfrm>
            <a:off x="777240" y="5120640"/>
            <a:ext cx="502560" cy="365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Box 21"/>
          <p:cNvSpPr/>
          <p:nvPr/>
        </p:nvSpPr>
        <p:spPr>
          <a:xfrm>
            <a:off x="1417320" y="5102280"/>
            <a:ext cx="283428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Rencana Aksi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Box 22"/>
          <p:cNvSpPr/>
          <p:nvPr/>
        </p:nvSpPr>
        <p:spPr>
          <a:xfrm>
            <a:off x="4251960" y="5102280"/>
            <a:ext cx="68576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5A5F64"/>
                </a:solidFill>
                <a:effectLst/>
                <a:uFillTx/>
                <a:latin typeface="Aptos"/>
              </a:rPr>
              <a:t>Prioritas untuk Estate Management, Keuangan, dan IT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Rectangle 23"/>
          <p:cNvSpPr/>
          <p:nvPr/>
        </p:nvSpPr>
        <p:spPr>
          <a:xfrm>
            <a:off x="1417320" y="5550480"/>
            <a:ext cx="9326520" cy="10440"/>
          </a:xfrm>
          <a:prstGeom prst="rect">
            <a:avLst/>
          </a:prstGeom>
          <a:solidFill>
            <a:srgbClr val="D2D7D4"/>
          </a:solidFill>
          <a:ln>
            <a:solidFill>
              <a:srgbClr val="D2D7D4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4200" rIns="90000" bIns="-342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TextBox 24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TextBox 25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02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TextBox 1"/>
          <p:cNvSpPr/>
          <p:nvPr/>
        </p:nvSpPr>
        <p:spPr>
          <a:xfrm>
            <a:off x="594360" y="3114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4FBEB2"/>
                </a:solidFill>
                <a:effectLst/>
                <a:uFillTx/>
                <a:latin typeface="Aptos"/>
              </a:rPr>
              <a:t>PEMAHAMAN BISNIS</a:t>
            </a:r>
            <a:endParaRPr lang="en-US" sz="9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594360" y="52596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IPL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merupakan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sumber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pendapatan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berulang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— dan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penagihan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menjadi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pengungkit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operasional</a:t>
            </a:r>
            <a:endParaRPr lang="en-US" sz="2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8" name="Rounded Rectangle 4"/>
          <p:cNvSpPr/>
          <p:nvPr/>
        </p:nvSpPr>
        <p:spPr>
          <a:xfrm>
            <a:off x="594360" y="1691640"/>
            <a:ext cx="6491880" cy="425160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9" name="TextBox 5"/>
          <p:cNvSpPr/>
          <p:nvPr/>
        </p:nvSpPr>
        <p:spPr>
          <a:xfrm>
            <a:off x="868680" y="1938600"/>
            <a:ext cx="20113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Konteks bisnis</a:t>
            </a:r>
            <a:endParaRPr lang="en-US" sz="1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Box 6"/>
          <p:cNvSpPr/>
          <p:nvPr/>
        </p:nvSpPr>
        <p:spPr>
          <a:xfrm>
            <a:off x="868680" y="2395800"/>
            <a:ext cx="5806080" cy="2194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45000" rIns="3672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DEE4E6"/>
                </a:solidFill>
                <a:effectLst/>
                <a:uFillTx/>
                <a:latin typeface="Aptos"/>
              </a:rPr>
              <a:t>• Sinar Mas Land mengembangkan kawasan terpadu yang pengelolaan kawasannya bergantung pada pembayaran berulang seperti IPL dan utilitas.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DEE4E6"/>
                </a:solidFill>
                <a:effectLst/>
                <a:uFillTx/>
                <a:latin typeface="Aptos"/>
              </a:rPr>
              <a:t>• Keterlambatan pembayaran IPL dapat menekan arus kas operasional karena keamanan, kebersihan, lanskap, dan fasilitas bersama tetap harus berjalan.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001"/>
              </a:spcAft>
            </a:pPr>
            <a:r>
              <a:rPr lang="en-US" sz="1400" b="0" u="none" strike="noStrike">
                <a:solidFill>
                  <a:srgbClr val="DEE4E6"/>
                </a:solidFill>
                <a:effectLst/>
                <a:uFillTx/>
                <a:latin typeface="Aptos"/>
              </a:rPr>
              <a:t>• Properti investasi yang kosong dapat menimbulkan tantangan penagihan, sementara data penagihan yang tidak konsisten dapat memicu masalah rekonsiliasi dan layanan pelanggan.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7"/>
          <p:cNvSpPr/>
          <p:nvPr/>
        </p:nvSpPr>
        <p:spPr>
          <a:xfrm>
            <a:off x="7452000" y="1699148"/>
            <a:ext cx="29257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Siapa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yang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membutuhkan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hasil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6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analisis</a:t>
            </a:r>
            <a:r>
              <a:rPr lang="en-US" sz="16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?</a:t>
            </a:r>
            <a:endParaRPr lang="en-US" sz="16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2" name="Rounded Rectangle 8"/>
          <p:cNvSpPr/>
          <p:nvPr/>
        </p:nvSpPr>
        <p:spPr>
          <a:xfrm>
            <a:off x="7452360" y="2331720"/>
            <a:ext cx="3977280" cy="82260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9"/>
          <p:cNvSpPr/>
          <p:nvPr/>
        </p:nvSpPr>
        <p:spPr>
          <a:xfrm>
            <a:off x="7452360" y="2331720"/>
            <a:ext cx="63720" cy="82260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TextBox 10"/>
          <p:cNvSpPr/>
          <p:nvPr/>
        </p:nvSpPr>
        <p:spPr>
          <a:xfrm>
            <a:off x="7653600" y="2496240"/>
            <a:ext cx="361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ESTATE MANAGEMENT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Box 11"/>
          <p:cNvSpPr/>
          <p:nvPr/>
        </p:nvSpPr>
        <p:spPr>
          <a:xfrm>
            <a:off x="7653600" y="281628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12"/>
          <p:cNvSpPr/>
          <p:nvPr/>
        </p:nvSpPr>
        <p:spPr>
          <a:xfrm>
            <a:off x="7667100" y="275256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Prioritas</a:t>
            </a:r>
            <a:r>
              <a:rPr lang="en-US" sz="9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</a:t>
            </a:r>
            <a:r>
              <a:rPr lang="en-US" sz="9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penagihan</a:t>
            </a:r>
            <a:r>
              <a:rPr lang="en-US" sz="9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&amp; aging</a:t>
            </a:r>
            <a:endParaRPr lang="en-US" sz="9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Rounded Rectangle 13"/>
          <p:cNvSpPr/>
          <p:nvPr/>
        </p:nvSpPr>
        <p:spPr>
          <a:xfrm>
            <a:off x="7452360" y="3264480"/>
            <a:ext cx="3977280" cy="82260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8" name="Rectangle 14"/>
          <p:cNvSpPr/>
          <p:nvPr/>
        </p:nvSpPr>
        <p:spPr>
          <a:xfrm>
            <a:off x="7452360" y="3264480"/>
            <a:ext cx="63720" cy="82260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9" name="TextBox 15"/>
          <p:cNvSpPr/>
          <p:nvPr/>
        </p:nvSpPr>
        <p:spPr>
          <a:xfrm>
            <a:off x="7653600" y="3429000"/>
            <a:ext cx="361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FINANCE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Box 16"/>
          <p:cNvSpPr/>
          <p:nvPr/>
        </p:nvSpPr>
        <p:spPr>
          <a:xfrm>
            <a:off x="7653600" y="374904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Box 17"/>
          <p:cNvSpPr/>
          <p:nvPr/>
        </p:nvSpPr>
        <p:spPr>
          <a:xfrm>
            <a:off x="7667100" y="3714840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Piutang</a:t>
            </a:r>
            <a:r>
              <a:rPr lang="en-US" sz="9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&amp; </a:t>
            </a:r>
            <a:r>
              <a:rPr lang="en-US" sz="9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rekonsiliasi</a:t>
            </a:r>
            <a:endParaRPr lang="en-US" sz="9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Rounded Rectangle 18"/>
          <p:cNvSpPr/>
          <p:nvPr/>
        </p:nvSpPr>
        <p:spPr>
          <a:xfrm>
            <a:off x="7452360" y="4197240"/>
            <a:ext cx="3977280" cy="82260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19"/>
          <p:cNvSpPr/>
          <p:nvPr/>
        </p:nvSpPr>
        <p:spPr>
          <a:xfrm>
            <a:off x="7452360" y="4197240"/>
            <a:ext cx="63720" cy="82260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20"/>
          <p:cNvSpPr/>
          <p:nvPr/>
        </p:nvSpPr>
        <p:spPr>
          <a:xfrm>
            <a:off x="7653600" y="4361760"/>
            <a:ext cx="361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TOWNSHIP OPERATIONS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21"/>
          <p:cNvSpPr/>
          <p:nvPr/>
        </p:nvSpPr>
        <p:spPr>
          <a:xfrm>
            <a:off x="7653600" y="468180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22"/>
          <p:cNvSpPr/>
          <p:nvPr/>
        </p:nvSpPr>
        <p:spPr>
          <a:xfrm>
            <a:off x="7653600" y="4626831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Kualitas</a:t>
            </a:r>
            <a:r>
              <a:rPr lang="en-US" sz="9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</a:t>
            </a:r>
            <a:r>
              <a:rPr lang="en-US" sz="9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utilitas</a:t>
            </a:r>
            <a:r>
              <a:rPr lang="en-US" sz="9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/ </a:t>
            </a:r>
            <a:r>
              <a:rPr lang="en-US" sz="9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layanan</a:t>
            </a:r>
            <a:endParaRPr lang="en-US" sz="9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7" name="Rounded Rectangle 23"/>
          <p:cNvSpPr/>
          <p:nvPr/>
        </p:nvSpPr>
        <p:spPr>
          <a:xfrm>
            <a:off x="7452360" y="5129640"/>
            <a:ext cx="3977280" cy="82260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8" name="Rectangle 24"/>
          <p:cNvSpPr/>
          <p:nvPr/>
        </p:nvSpPr>
        <p:spPr>
          <a:xfrm>
            <a:off x="7452360" y="5129640"/>
            <a:ext cx="63720" cy="82260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TextBox 25"/>
          <p:cNvSpPr/>
          <p:nvPr/>
        </p:nvSpPr>
        <p:spPr>
          <a:xfrm>
            <a:off x="7653600" y="5294520"/>
            <a:ext cx="36115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IT / ERP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Box 26"/>
          <p:cNvSpPr/>
          <p:nvPr/>
        </p:nvSpPr>
        <p:spPr>
          <a:xfrm>
            <a:off x="7653600" y="5614560"/>
            <a:ext cx="36115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27"/>
          <p:cNvSpPr/>
          <p:nvPr/>
        </p:nvSpPr>
        <p:spPr>
          <a:xfrm>
            <a:off x="7635240" y="5569018"/>
            <a:ext cx="36115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Perbaikan aturan bisnis &amp; validasi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Box 28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Box 29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03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Box 1"/>
          <p:cNvSpPr/>
          <p:nvPr/>
        </p:nvSpPr>
        <p:spPr>
          <a:xfrm>
            <a:off x="567573" y="21906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29918B"/>
                </a:solidFill>
                <a:effectLst/>
                <a:uFillTx/>
                <a:latin typeface="Aptos"/>
              </a:rPr>
              <a:t>PEMAHAMAN BISNIS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Box 2"/>
          <p:cNvSpPr/>
          <p:nvPr/>
        </p:nvSpPr>
        <p:spPr>
          <a:xfrm>
            <a:off x="566820" y="43884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Masalah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utama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: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tunggakan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IPL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bertemu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dengan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data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penagihan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yang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belum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sempurna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6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7" name="TextBox 4"/>
          <p:cNvSpPr/>
          <p:nvPr/>
        </p:nvSpPr>
        <p:spPr>
          <a:xfrm>
            <a:off x="685800" y="1691640"/>
            <a:ext cx="21942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SATU MASALAH BISNIS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Box 5"/>
          <p:cNvSpPr/>
          <p:nvPr/>
        </p:nvSpPr>
        <p:spPr>
          <a:xfrm>
            <a:off x="685800" y="2057400"/>
            <a:ext cx="10515240" cy="731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4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Bagaimana Estate Management dapat memulihkan pendapatan yang tertunda sekaligus meningkatkan keandalan data penagihan?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Rounded Rectangle 6"/>
          <p:cNvSpPr/>
          <p:nvPr/>
        </p:nvSpPr>
        <p:spPr>
          <a:xfrm>
            <a:off x="731520" y="3063240"/>
            <a:ext cx="411120" cy="411120"/>
          </a:xfrm>
          <a:prstGeom prst="roundRect">
            <a:avLst>
              <a:gd name="adj" fmla="val 16667"/>
            </a:avLst>
          </a:prstGeom>
          <a:solidFill>
            <a:srgbClr val="0F1928"/>
          </a:solidFill>
          <a:ln>
            <a:solidFill>
              <a:srgbClr val="0F19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7"/>
          <p:cNvSpPr/>
          <p:nvPr/>
        </p:nvSpPr>
        <p:spPr>
          <a:xfrm>
            <a:off x="731520" y="309996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TextBox 8"/>
          <p:cNvSpPr/>
          <p:nvPr/>
        </p:nvSpPr>
        <p:spPr>
          <a:xfrm>
            <a:off x="1298520" y="3054240"/>
            <a:ext cx="4708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Township dan cluster mana yang memiliki rasio tunggakan tertinggi?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Rounded Rectangle 9"/>
          <p:cNvSpPr/>
          <p:nvPr/>
        </p:nvSpPr>
        <p:spPr>
          <a:xfrm>
            <a:off x="731520" y="3840480"/>
            <a:ext cx="411120" cy="411120"/>
          </a:xfrm>
          <a:prstGeom prst="roundRect">
            <a:avLst>
              <a:gd name="adj" fmla="val 16667"/>
            </a:avLst>
          </a:prstGeom>
          <a:solidFill>
            <a:srgbClr val="0F1928"/>
          </a:solidFill>
          <a:ln>
            <a:solidFill>
              <a:srgbClr val="0F19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10"/>
          <p:cNvSpPr/>
          <p:nvPr/>
        </p:nvSpPr>
        <p:spPr>
          <a:xfrm>
            <a:off x="731520" y="387720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Box 11"/>
          <p:cNvSpPr/>
          <p:nvPr/>
        </p:nvSpPr>
        <p:spPr>
          <a:xfrm>
            <a:off x="1298520" y="3831480"/>
            <a:ext cx="4708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Apakah unit kosong memiliki kecenderungan tunggakan yang lebih tinggi?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Rounded Rectangle 12"/>
          <p:cNvSpPr/>
          <p:nvPr/>
        </p:nvSpPr>
        <p:spPr>
          <a:xfrm>
            <a:off x="731520" y="4617720"/>
            <a:ext cx="411120" cy="411120"/>
          </a:xfrm>
          <a:prstGeom prst="roundRect">
            <a:avLst>
              <a:gd name="adj" fmla="val 16667"/>
            </a:avLst>
          </a:prstGeom>
          <a:solidFill>
            <a:srgbClr val="0F1928"/>
          </a:solidFill>
          <a:ln>
            <a:solidFill>
              <a:srgbClr val="0F19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6" name="TextBox 13"/>
          <p:cNvSpPr/>
          <p:nvPr/>
        </p:nvSpPr>
        <p:spPr>
          <a:xfrm>
            <a:off x="731520" y="46544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Box 14"/>
          <p:cNvSpPr/>
          <p:nvPr/>
        </p:nvSpPr>
        <p:spPr>
          <a:xfrm>
            <a:off x="1298520" y="4608720"/>
            <a:ext cx="4708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Berapa nilai outstanding yang masih tersisa, dan berapa yang mengalami tunggakan kronis?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Rounded Rectangle 15"/>
          <p:cNvSpPr/>
          <p:nvPr/>
        </p:nvSpPr>
        <p:spPr>
          <a:xfrm>
            <a:off x="6355080" y="3063240"/>
            <a:ext cx="411120" cy="411120"/>
          </a:xfrm>
          <a:prstGeom prst="roundRect">
            <a:avLst>
              <a:gd name="adj" fmla="val 16667"/>
            </a:avLst>
          </a:prstGeom>
          <a:solidFill>
            <a:srgbClr val="0F1928"/>
          </a:solidFill>
          <a:ln>
            <a:solidFill>
              <a:srgbClr val="0F19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9" name="TextBox 16"/>
          <p:cNvSpPr/>
          <p:nvPr/>
        </p:nvSpPr>
        <p:spPr>
          <a:xfrm>
            <a:off x="6355080" y="309996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4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Box 17"/>
          <p:cNvSpPr/>
          <p:nvPr/>
        </p:nvSpPr>
        <p:spPr>
          <a:xfrm>
            <a:off x="6922080" y="3054240"/>
            <a:ext cx="4708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Seberapa tidak konsisten pencatatan metode pembayaran?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Rounded Rectangle 18"/>
          <p:cNvSpPr/>
          <p:nvPr/>
        </p:nvSpPr>
        <p:spPr>
          <a:xfrm>
            <a:off x="6355080" y="3840480"/>
            <a:ext cx="411120" cy="411120"/>
          </a:xfrm>
          <a:prstGeom prst="roundRect">
            <a:avLst>
              <a:gd name="adj" fmla="val 16667"/>
            </a:avLst>
          </a:prstGeom>
          <a:solidFill>
            <a:srgbClr val="0F1928"/>
          </a:solidFill>
          <a:ln>
            <a:solidFill>
              <a:srgbClr val="0F19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TextBox 19"/>
          <p:cNvSpPr/>
          <p:nvPr/>
        </p:nvSpPr>
        <p:spPr>
          <a:xfrm>
            <a:off x="6355080" y="387720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5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Box 20"/>
          <p:cNvSpPr/>
          <p:nvPr/>
        </p:nvSpPr>
        <p:spPr>
          <a:xfrm>
            <a:off x="6922080" y="3831480"/>
            <a:ext cx="4708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Berapa banyak data kontak pemilik yang masih kosong?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Rounded Rectangle 21"/>
          <p:cNvSpPr/>
          <p:nvPr/>
        </p:nvSpPr>
        <p:spPr>
          <a:xfrm>
            <a:off x="6355080" y="4617720"/>
            <a:ext cx="411120" cy="411120"/>
          </a:xfrm>
          <a:prstGeom prst="roundRect">
            <a:avLst>
              <a:gd name="adj" fmla="val 16667"/>
            </a:avLst>
          </a:prstGeom>
          <a:solidFill>
            <a:srgbClr val="0F1928"/>
          </a:solidFill>
          <a:ln>
            <a:solidFill>
              <a:srgbClr val="0F19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5" name="TextBox 22"/>
          <p:cNvSpPr/>
          <p:nvPr/>
        </p:nvSpPr>
        <p:spPr>
          <a:xfrm>
            <a:off x="6355080" y="4654440"/>
            <a:ext cx="41112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Box 23"/>
          <p:cNvSpPr/>
          <p:nvPr/>
        </p:nvSpPr>
        <p:spPr>
          <a:xfrm>
            <a:off x="6922080" y="4608720"/>
            <a:ext cx="47088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0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Apakah terdapat tanggal pembayaran yang tidak mungkin atau penggunaan air yang ekstrem?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TextBox 24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Box 25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04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1"/>
          <p:cNvSpPr/>
          <p:nvPr/>
        </p:nvSpPr>
        <p:spPr>
          <a:xfrm>
            <a:off x="594360" y="3841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PEMAHAMAN DATA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Box 2"/>
          <p:cNvSpPr/>
          <p:nvPr/>
        </p:nvSpPr>
        <p:spPr>
          <a:xfrm>
            <a:off x="594360" y="6948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Tiga tabel membentuk satu alur penagihan: cluster → unit → invoice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1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2" name="Rounded Rectangle 4"/>
          <p:cNvSpPr/>
          <p:nvPr/>
        </p:nvSpPr>
        <p:spPr>
          <a:xfrm>
            <a:off x="685800" y="1783080"/>
            <a:ext cx="3291480" cy="132552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Rectangle 5"/>
          <p:cNvSpPr/>
          <p:nvPr/>
        </p:nvSpPr>
        <p:spPr>
          <a:xfrm>
            <a:off x="685800" y="1783080"/>
            <a:ext cx="63720" cy="132552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4" name="TextBox 6"/>
          <p:cNvSpPr/>
          <p:nvPr/>
        </p:nvSpPr>
        <p:spPr>
          <a:xfrm>
            <a:off x="887040" y="19476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CLUSTERS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7"/>
          <p:cNvSpPr/>
          <p:nvPr/>
        </p:nvSpPr>
        <p:spPr>
          <a:xfrm>
            <a:off x="887040" y="226764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100 rows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8"/>
          <p:cNvSpPr/>
          <p:nvPr/>
        </p:nvSpPr>
        <p:spPr>
          <a:xfrm>
            <a:off x="887040" y="2788920"/>
            <a:ext cx="2925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3 kolom • wilayah / segmen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7" name="Rounded Rectangle 9"/>
          <p:cNvSpPr/>
          <p:nvPr/>
        </p:nvSpPr>
        <p:spPr>
          <a:xfrm>
            <a:off x="4434840" y="1783080"/>
            <a:ext cx="3291480" cy="132552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8" name="Rectangle 10"/>
          <p:cNvSpPr/>
          <p:nvPr/>
        </p:nvSpPr>
        <p:spPr>
          <a:xfrm>
            <a:off x="4434840" y="1783080"/>
            <a:ext cx="63720" cy="1325520"/>
          </a:xfrm>
          <a:prstGeom prst="rect">
            <a:avLst/>
          </a:prstGeom>
          <a:solidFill>
            <a:srgbClr val="4FBEB2"/>
          </a:solidFill>
          <a:ln>
            <a:solidFill>
              <a:srgbClr val="4FBEB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9" name="TextBox 11"/>
          <p:cNvSpPr/>
          <p:nvPr/>
        </p:nvSpPr>
        <p:spPr>
          <a:xfrm>
            <a:off x="4636080" y="19476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UNITS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Box 12"/>
          <p:cNvSpPr/>
          <p:nvPr/>
        </p:nvSpPr>
        <p:spPr>
          <a:xfrm>
            <a:off x="4636080" y="226764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25,000 rows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Box 13"/>
          <p:cNvSpPr/>
          <p:nvPr/>
        </p:nvSpPr>
        <p:spPr>
          <a:xfrm>
            <a:off x="4636080" y="2788920"/>
            <a:ext cx="2925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6 kolom • properti / pemilik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2" name="Rounded Rectangle 14"/>
          <p:cNvSpPr/>
          <p:nvPr/>
        </p:nvSpPr>
        <p:spPr>
          <a:xfrm>
            <a:off x="8183880" y="1783080"/>
            <a:ext cx="3291480" cy="132552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3" name="Rectangle 15"/>
          <p:cNvSpPr/>
          <p:nvPr/>
        </p:nvSpPr>
        <p:spPr>
          <a:xfrm>
            <a:off x="8183880" y="1783080"/>
            <a:ext cx="63720" cy="132552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TextBox 16"/>
          <p:cNvSpPr/>
          <p:nvPr/>
        </p:nvSpPr>
        <p:spPr>
          <a:xfrm>
            <a:off x="8385120" y="194760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IPL BILLINGS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Box 17"/>
          <p:cNvSpPr/>
          <p:nvPr/>
        </p:nvSpPr>
        <p:spPr>
          <a:xfrm>
            <a:off x="8385120" y="2267640"/>
            <a:ext cx="2925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300,000 rows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Box 18"/>
          <p:cNvSpPr/>
          <p:nvPr/>
        </p:nvSpPr>
        <p:spPr>
          <a:xfrm>
            <a:off x="8385120" y="2788920"/>
            <a:ext cx="292572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9 kolom • invoice bulanan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Box 19"/>
          <p:cNvSpPr/>
          <p:nvPr/>
        </p:nvSpPr>
        <p:spPr>
          <a:xfrm>
            <a:off x="731520" y="35204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Relasi divalidasi sebelum merge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8" name="Rectangle 20"/>
          <p:cNvSpPr/>
          <p:nvPr/>
        </p:nvSpPr>
        <p:spPr>
          <a:xfrm>
            <a:off x="2331720" y="4224600"/>
            <a:ext cx="1919880" cy="4068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9" name="TextBox 21"/>
          <p:cNvSpPr/>
          <p:nvPr/>
        </p:nvSpPr>
        <p:spPr>
          <a:xfrm>
            <a:off x="2926080" y="38862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cluster_id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0" name="Rectangle 22"/>
          <p:cNvSpPr/>
          <p:nvPr/>
        </p:nvSpPr>
        <p:spPr>
          <a:xfrm>
            <a:off x="6080760" y="4224600"/>
            <a:ext cx="1919880" cy="4068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3960" rIns="90000" bIns="-3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1" name="TextBox 23"/>
          <p:cNvSpPr/>
          <p:nvPr/>
        </p:nvSpPr>
        <p:spPr>
          <a:xfrm>
            <a:off x="6675120" y="3886200"/>
            <a:ext cx="914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unit_id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Box 24"/>
          <p:cNvSpPr/>
          <p:nvPr/>
        </p:nvSpPr>
        <p:spPr>
          <a:xfrm>
            <a:off x="1005840" y="44348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Cluster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Box 25"/>
          <p:cNvSpPr/>
          <p:nvPr/>
        </p:nvSpPr>
        <p:spPr>
          <a:xfrm>
            <a:off x="4800600" y="44348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Unit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Box 26"/>
          <p:cNvSpPr/>
          <p:nvPr/>
        </p:nvSpPr>
        <p:spPr>
          <a:xfrm>
            <a:off x="8641080" y="4434840"/>
            <a:ext cx="127980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Billings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Box 27"/>
          <p:cNvSpPr/>
          <p:nvPr/>
        </p:nvSpPr>
        <p:spPr>
          <a:xfrm>
            <a:off x="731520" y="5257800"/>
            <a:ext cx="80463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Periode penagihan: Jan 2018 – Des 2024 • Handover: 2020–2022</a:t>
            </a:r>
            <a:endParaRPr lang="en-US" sz="11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Box 28"/>
          <p:cNvSpPr/>
          <p:nvPr/>
        </p:nvSpPr>
        <p:spPr>
          <a:xfrm>
            <a:off x="731520" y="5623560"/>
            <a:ext cx="97837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Hasil validasi: 0 billing tanpa unit yang valid • 0 unit tanpa cluster yang valid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Box 29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Box 30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05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Box 1"/>
          <p:cNvSpPr/>
          <p:nvPr/>
        </p:nvSpPr>
        <p:spPr>
          <a:xfrm>
            <a:off x="594360" y="27018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PERSIAPAN DATA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"/>
          <p:cNvSpPr/>
          <p:nvPr/>
        </p:nvSpPr>
        <p:spPr>
          <a:xfrm>
            <a:off x="594360" y="51192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Cleaning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berfokus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pada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menjaga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bukti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—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bukan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menyembunyikan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anomali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2" name="Rounded Rectangle 4"/>
          <p:cNvSpPr/>
          <p:nvPr/>
        </p:nvSpPr>
        <p:spPr>
          <a:xfrm>
            <a:off x="685800" y="1783080"/>
            <a:ext cx="525744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DAD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3" name="Rectangle 5"/>
          <p:cNvSpPr/>
          <p:nvPr/>
        </p:nvSpPr>
        <p:spPr>
          <a:xfrm>
            <a:off x="685800" y="1783080"/>
            <a:ext cx="72720" cy="98712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4" name="TextBox 6"/>
          <p:cNvSpPr/>
          <p:nvPr/>
        </p:nvSpPr>
        <p:spPr>
          <a:xfrm>
            <a:off x="960120" y="19386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Duplikat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Box 7"/>
          <p:cNvSpPr/>
          <p:nvPr/>
        </p:nvSpPr>
        <p:spPr>
          <a:xfrm>
            <a:off x="960120" y="225864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0 baris duplikat dan 0 ID utama duplikat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Rounded Rectangle 8"/>
          <p:cNvSpPr/>
          <p:nvPr/>
        </p:nvSpPr>
        <p:spPr>
          <a:xfrm>
            <a:off x="685800" y="3017520"/>
            <a:ext cx="525744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DAD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7" name="Rectangle 9"/>
          <p:cNvSpPr/>
          <p:nvPr/>
        </p:nvSpPr>
        <p:spPr>
          <a:xfrm>
            <a:off x="685800" y="3017520"/>
            <a:ext cx="72720" cy="98712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8" name="TextBox 10"/>
          <p:cNvSpPr/>
          <p:nvPr/>
        </p:nvSpPr>
        <p:spPr>
          <a:xfrm>
            <a:off x="960120" y="31730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Nomor kontak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Box 11"/>
          <p:cNvSpPr/>
          <p:nvPr/>
        </p:nvSpPr>
        <p:spPr>
          <a:xfrm>
            <a:off x="960120" y="349308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5,000 missing (20%) • converted to string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0" name="Rounded Rectangle 12"/>
          <p:cNvSpPr/>
          <p:nvPr/>
        </p:nvSpPr>
        <p:spPr>
          <a:xfrm>
            <a:off x="685800" y="4251960"/>
            <a:ext cx="525744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DAD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1" name="Rectangle 13"/>
          <p:cNvSpPr/>
          <p:nvPr/>
        </p:nvSpPr>
        <p:spPr>
          <a:xfrm>
            <a:off x="685800" y="4251960"/>
            <a:ext cx="72720" cy="98712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2" name="TextBox 14"/>
          <p:cNvSpPr/>
          <p:nvPr/>
        </p:nvSpPr>
        <p:spPr>
          <a:xfrm>
            <a:off x="960120" y="44074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Metode pembayaran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Box 15"/>
          <p:cNvSpPr/>
          <p:nvPr/>
        </p:nvSpPr>
        <p:spPr>
          <a:xfrm>
            <a:off x="960120" y="472752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9 raw labels → 4 standardized categories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Rounded Rectangle 16"/>
          <p:cNvSpPr/>
          <p:nvPr/>
        </p:nvSpPr>
        <p:spPr>
          <a:xfrm>
            <a:off x="6400800" y="1783080"/>
            <a:ext cx="525744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DAD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5" name="Rectangle 17"/>
          <p:cNvSpPr/>
          <p:nvPr/>
        </p:nvSpPr>
        <p:spPr>
          <a:xfrm>
            <a:off x="6400800" y="1783080"/>
            <a:ext cx="72720" cy="987120"/>
          </a:xfrm>
          <a:prstGeom prst="rect">
            <a:avLst/>
          </a:prstGeom>
          <a:solidFill>
            <a:srgbClr val="4FBEB2"/>
          </a:solidFill>
          <a:ln>
            <a:solidFill>
              <a:srgbClr val="4FBEB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6" name="TextBox 18"/>
          <p:cNvSpPr/>
          <p:nvPr/>
        </p:nvSpPr>
        <p:spPr>
          <a:xfrm>
            <a:off x="6675120" y="19386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Tanggal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Box 19"/>
          <p:cNvSpPr/>
          <p:nvPr/>
        </p:nvSpPr>
        <p:spPr>
          <a:xfrm>
            <a:off x="6675120" y="225864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Tanggal billing, pembayaran, dan handover dikonversi ke datetime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Rounded Rectangle 20"/>
          <p:cNvSpPr/>
          <p:nvPr/>
        </p:nvSpPr>
        <p:spPr>
          <a:xfrm>
            <a:off x="6400800" y="3017520"/>
            <a:ext cx="525744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DAD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9" name="Rectangle 21"/>
          <p:cNvSpPr/>
          <p:nvPr/>
        </p:nvSpPr>
        <p:spPr>
          <a:xfrm>
            <a:off x="6400800" y="3017520"/>
            <a:ext cx="72720" cy="987120"/>
          </a:xfrm>
          <a:prstGeom prst="rect">
            <a:avLst/>
          </a:prstGeom>
          <a:solidFill>
            <a:srgbClr val="DA6559"/>
          </a:solidFill>
          <a:ln>
            <a:solidFill>
              <a:srgbClr val="DA65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0" name="TextBox 22"/>
          <p:cNvSpPr/>
          <p:nvPr/>
        </p:nvSpPr>
        <p:spPr>
          <a:xfrm>
            <a:off x="6675120" y="31730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Kesalahan logika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Box 23"/>
          <p:cNvSpPr/>
          <p:nvPr/>
        </p:nvSpPr>
        <p:spPr>
          <a:xfrm>
            <a:off x="6675120" y="349308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6,291 Invoice Paid before handover flagged, not deleted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Rounded Rectangle 24"/>
          <p:cNvSpPr/>
          <p:nvPr/>
        </p:nvSpPr>
        <p:spPr>
          <a:xfrm>
            <a:off x="6400800" y="4251960"/>
            <a:ext cx="5257440" cy="98712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6DAD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3" name="Rectangle 25"/>
          <p:cNvSpPr/>
          <p:nvPr/>
        </p:nvSpPr>
        <p:spPr>
          <a:xfrm>
            <a:off x="6400800" y="4251960"/>
            <a:ext cx="72720" cy="98712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04" name="TextBox 26"/>
          <p:cNvSpPr/>
          <p:nvPr/>
        </p:nvSpPr>
        <p:spPr>
          <a:xfrm>
            <a:off x="6675120" y="44074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Penggunaan air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Box 27"/>
          <p:cNvSpPr/>
          <p:nvPr/>
        </p:nvSpPr>
        <p:spPr>
          <a:xfrm>
            <a:off x="6675120" y="4727520"/>
            <a:ext cx="4571640" cy="383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1,519 negative + 1,481 Outlier IQRs flagged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Box 28"/>
          <p:cNvSpPr/>
          <p:nvPr/>
        </p:nvSpPr>
        <p:spPr>
          <a:xfrm>
            <a:off x="731520" y="5715000"/>
            <a:ext cx="106066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Prinsip: anomali ditandai untuk audit/rekonsiliasi kecuali aturan bisnis secara eksplisit mengharuskan koreksi.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Box 29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Box 30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06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1"/>
          <p:cNvSpPr/>
          <p:nvPr/>
        </p:nvSpPr>
        <p:spPr>
          <a:xfrm>
            <a:off x="594360" y="3841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RINGKASAN EKSEKUTIF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Box 2"/>
          <p:cNvSpPr/>
          <p:nvPr/>
        </p:nvSpPr>
        <p:spPr>
          <a:xfrm>
            <a:off x="594360" y="6948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Lima angka yang menggambarkan kondisi operasional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1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2" name="Rounded Rectangle 4"/>
          <p:cNvSpPr/>
          <p:nvPr/>
        </p:nvSpPr>
        <p:spPr>
          <a:xfrm>
            <a:off x="640080" y="1691640"/>
            <a:ext cx="2148480" cy="141696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3" name="Rectangle 5"/>
          <p:cNvSpPr/>
          <p:nvPr/>
        </p:nvSpPr>
        <p:spPr>
          <a:xfrm>
            <a:off x="640080" y="1691640"/>
            <a:ext cx="63720" cy="1416960"/>
          </a:xfrm>
          <a:prstGeom prst="rect">
            <a:avLst/>
          </a:prstGeom>
          <a:solidFill>
            <a:srgbClr val="DA6559"/>
          </a:solidFill>
          <a:ln>
            <a:solidFill>
              <a:srgbClr val="DA65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4" name="TextBox 6"/>
          <p:cNvSpPr/>
          <p:nvPr/>
        </p:nvSpPr>
        <p:spPr>
          <a:xfrm>
            <a:off x="841320" y="18561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OUTSTANDING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Box 7"/>
          <p:cNvSpPr/>
          <p:nvPr/>
        </p:nvSpPr>
        <p:spPr>
          <a:xfrm>
            <a:off x="841320" y="217620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Rp117.26B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6" name="TextBox 8"/>
          <p:cNvSpPr/>
          <p:nvPr/>
        </p:nvSpPr>
        <p:spPr>
          <a:xfrm>
            <a:off x="841320" y="2697480"/>
            <a:ext cx="17827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Unpaid + Overdue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Rounded Rectangle 9"/>
          <p:cNvSpPr/>
          <p:nvPr/>
        </p:nvSpPr>
        <p:spPr>
          <a:xfrm>
            <a:off x="2926080" y="1691640"/>
            <a:ext cx="2148480" cy="141696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8" name="Rectangle 10"/>
          <p:cNvSpPr/>
          <p:nvPr/>
        </p:nvSpPr>
        <p:spPr>
          <a:xfrm>
            <a:off x="2926080" y="1691640"/>
            <a:ext cx="63720" cy="141696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9" name="TextBox 11"/>
          <p:cNvSpPr/>
          <p:nvPr/>
        </p:nvSpPr>
        <p:spPr>
          <a:xfrm>
            <a:off x="3127320" y="18561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VACANT SHARE OF UNITS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0" name="TextBox 12"/>
          <p:cNvSpPr/>
          <p:nvPr/>
        </p:nvSpPr>
        <p:spPr>
          <a:xfrm>
            <a:off x="3127320" y="217620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24.7%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Box 13"/>
          <p:cNvSpPr/>
          <p:nvPr/>
        </p:nvSpPr>
        <p:spPr>
          <a:xfrm>
            <a:off x="3127320" y="2697480"/>
            <a:ext cx="17827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6,178 of 25,000 units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2" name="Rounded Rectangle 14"/>
          <p:cNvSpPr/>
          <p:nvPr/>
        </p:nvSpPr>
        <p:spPr>
          <a:xfrm>
            <a:off x="5212080" y="1691640"/>
            <a:ext cx="2148480" cy="141696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3" name="Rectangle 15"/>
          <p:cNvSpPr/>
          <p:nvPr/>
        </p:nvSpPr>
        <p:spPr>
          <a:xfrm>
            <a:off x="5212080" y="1691640"/>
            <a:ext cx="63720" cy="141696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4" name="TextBox 16"/>
          <p:cNvSpPr/>
          <p:nvPr/>
        </p:nvSpPr>
        <p:spPr>
          <a:xfrm>
            <a:off x="5413320" y="18561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VACANT ARREARS RATE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5" name="TextBox 17"/>
          <p:cNvSpPr/>
          <p:nvPr/>
        </p:nvSpPr>
        <p:spPr>
          <a:xfrm>
            <a:off x="5413320" y="217620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60.1%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6" name="TextBox 18"/>
          <p:cNvSpPr/>
          <p:nvPr/>
        </p:nvSpPr>
        <p:spPr>
          <a:xfrm>
            <a:off x="5413320" y="2697480"/>
            <a:ext cx="17827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vs 20,2% unit tidak kosong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7" name="Rounded Rectangle 19"/>
          <p:cNvSpPr/>
          <p:nvPr/>
        </p:nvSpPr>
        <p:spPr>
          <a:xfrm>
            <a:off x="7498080" y="1691640"/>
            <a:ext cx="2148480" cy="141696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8" name="Rectangle 20"/>
          <p:cNvSpPr/>
          <p:nvPr/>
        </p:nvSpPr>
        <p:spPr>
          <a:xfrm>
            <a:off x="7498080" y="1691640"/>
            <a:ext cx="63720" cy="1416960"/>
          </a:xfrm>
          <a:prstGeom prst="rect">
            <a:avLst/>
          </a:prstGeom>
          <a:solidFill>
            <a:srgbClr val="DA6559"/>
          </a:solidFill>
          <a:ln>
            <a:solidFill>
              <a:srgbClr val="DA65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9" name="TextBox 21"/>
          <p:cNvSpPr/>
          <p:nvPr/>
        </p:nvSpPr>
        <p:spPr>
          <a:xfrm>
            <a:off x="7699320" y="1856160"/>
            <a:ext cx="178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PRE-HANDOVER PAID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0" name="TextBox 22"/>
          <p:cNvSpPr/>
          <p:nvPr/>
        </p:nvSpPr>
        <p:spPr>
          <a:xfrm>
            <a:off x="7699320" y="2176200"/>
            <a:ext cx="178272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6,291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1" name="TextBox 23"/>
          <p:cNvSpPr/>
          <p:nvPr/>
        </p:nvSpPr>
        <p:spPr>
          <a:xfrm>
            <a:off x="7699320" y="2697480"/>
            <a:ext cx="178272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Rp8.35B nilai invoice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2" name="Rounded Rectangle 24"/>
          <p:cNvSpPr/>
          <p:nvPr/>
        </p:nvSpPr>
        <p:spPr>
          <a:xfrm>
            <a:off x="9784080" y="1691640"/>
            <a:ext cx="1737000" cy="141696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3" name="Rectangle 25"/>
          <p:cNvSpPr/>
          <p:nvPr/>
        </p:nvSpPr>
        <p:spPr>
          <a:xfrm>
            <a:off x="9784080" y="1691640"/>
            <a:ext cx="63720" cy="141696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34" name="TextBox 26"/>
          <p:cNvSpPr/>
          <p:nvPr/>
        </p:nvSpPr>
        <p:spPr>
          <a:xfrm>
            <a:off x="9985320" y="1856160"/>
            <a:ext cx="13712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WATER ISSUES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27"/>
          <p:cNvSpPr/>
          <p:nvPr/>
        </p:nvSpPr>
        <p:spPr>
          <a:xfrm>
            <a:off x="9985320" y="2176200"/>
            <a:ext cx="13712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3,000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28"/>
          <p:cNvSpPr/>
          <p:nvPr/>
        </p:nvSpPr>
        <p:spPr>
          <a:xfrm>
            <a:off x="9985320" y="2697480"/>
            <a:ext cx="137124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negatif + outlier IQR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7" name="TextBox 29"/>
          <p:cNvSpPr/>
          <p:nvPr/>
        </p:nvSpPr>
        <p:spPr>
          <a:xfrm>
            <a:off x="685800" y="36576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Apa artinya?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8" name="TextBox 30"/>
          <p:cNvSpPr/>
          <p:nvPr/>
        </p:nvSpPr>
        <p:spPr>
          <a:xfrm>
            <a:off x="685800" y="4069080"/>
            <a:ext cx="10515240" cy="159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45000" rIns="3672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• Risiko penagihan tidak tersebar merata: unit kosong menunjukkan rasio tunggakan yang jauh lebih tinggi.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• Eksposur pendapatan cukup besar sehingga penagihan perlu diprioritaskan berdasarkan lokasi dan aging.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99"/>
              </a:spcAft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• Pengendalian sistem penagihan juga perlu diperbaiki karena terdapat anomali pada kronologi pembayaran dan nilai meter air.</a:t>
            </a:r>
            <a:endParaRPr lang="en-US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31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0" name="TextBox 32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07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TextBox 1"/>
          <p:cNvSpPr/>
          <p:nvPr/>
        </p:nvSpPr>
        <p:spPr>
          <a:xfrm>
            <a:off x="594360" y="2518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29918B"/>
                </a:solidFill>
                <a:effectLst/>
                <a:uFillTx/>
                <a:latin typeface="Aptos"/>
              </a:rPr>
              <a:t>EDA • KINERJA PEMBAYARAN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TextBox 2"/>
          <p:cNvSpPr/>
          <p:nvPr/>
        </p:nvSpPr>
        <p:spPr>
          <a:xfrm>
            <a:off x="594360" y="495379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Rp117,26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Miliar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masih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outstanding — status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pembayaran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menjadi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sinyal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awal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penagihan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44" name="Picture 4" descr="status_count.png"/>
          <p:cNvPicPr/>
          <p:nvPr/>
        </p:nvPicPr>
        <p:blipFill>
          <a:blip r:embed="rId2"/>
          <a:stretch/>
        </p:blipFill>
        <p:spPr>
          <a:xfrm>
            <a:off x="685800" y="1691640"/>
            <a:ext cx="5257440" cy="3337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5" name="Picture 5" descr="status_amount.png"/>
          <p:cNvPicPr/>
          <p:nvPr/>
        </p:nvPicPr>
        <p:blipFill>
          <a:blip r:embed="rId3"/>
          <a:stretch/>
        </p:blipFill>
        <p:spPr>
          <a:xfrm>
            <a:off x="6263640" y="1691640"/>
            <a:ext cx="5257440" cy="33372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6" name="Rounded Rectangle 6"/>
          <p:cNvSpPr/>
          <p:nvPr/>
        </p:nvSpPr>
        <p:spPr>
          <a:xfrm>
            <a:off x="685800" y="5257800"/>
            <a:ext cx="10835280" cy="712800"/>
          </a:xfrm>
          <a:prstGeom prst="roundRect">
            <a:avLst>
              <a:gd name="adj" fmla="val 16667"/>
            </a:avLst>
          </a:prstGeom>
          <a:solidFill>
            <a:srgbClr val="0F1928"/>
          </a:solidFill>
          <a:ln>
            <a:solidFill>
              <a:srgbClr val="0F19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7" name="TextBox 7"/>
          <p:cNvSpPr/>
          <p:nvPr/>
        </p:nvSpPr>
        <p:spPr>
          <a:xfrm>
            <a:off x="914400" y="5440680"/>
            <a:ext cx="1005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Temuan utama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TextBox 8"/>
          <p:cNvSpPr/>
          <p:nvPr/>
        </p:nvSpPr>
        <p:spPr>
          <a:xfrm>
            <a:off x="1919880" y="5418000"/>
            <a:ext cx="905220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Outstanding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didefinisikan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sebagai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Unpaid + Overdue;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nilai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gabungannya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sekitar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Rp117,26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Miliar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9" name="TextBox 9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0" name="TextBox 10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08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TextBox 1"/>
          <p:cNvSpPr/>
          <p:nvPr/>
        </p:nvSpPr>
        <p:spPr>
          <a:xfrm>
            <a:off x="594360" y="3841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EDA • STATUS HUNIAN &amp; PEMBAYARAN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2" name="TextBox 2"/>
          <p:cNvSpPr/>
          <p:nvPr/>
        </p:nvSpPr>
        <p:spPr>
          <a:xfrm>
            <a:off x="594360" y="6948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Unit kosong memiliki paparan tunggakan yang jauh lebih tinggi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3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54" name="Picture 4" descr="vacancy_arrears.png"/>
          <p:cNvPicPr/>
          <p:nvPr/>
        </p:nvPicPr>
        <p:blipFill>
          <a:blip r:embed="rId2"/>
          <a:stretch/>
        </p:blipFill>
        <p:spPr>
          <a:xfrm>
            <a:off x="685800" y="1737360"/>
            <a:ext cx="5486040" cy="3474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" name="Rounded Rectangle 5"/>
          <p:cNvSpPr/>
          <p:nvPr/>
        </p:nvSpPr>
        <p:spPr>
          <a:xfrm>
            <a:off x="6583680" y="1783080"/>
            <a:ext cx="2331360" cy="132552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6" name="Rectangle 6"/>
          <p:cNvSpPr/>
          <p:nvPr/>
        </p:nvSpPr>
        <p:spPr>
          <a:xfrm>
            <a:off x="6583680" y="1783080"/>
            <a:ext cx="63720" cy="132552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57" name="TextBox 7"/>
          <p:cNvSpPr/>
          <p:nvPr/>
        </p:nvSpPr>
        <p:spPr>
          <a:xfrm>
            <a:off x="6784920" y="1947600"/>
            <a:ext cx="1965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VACANT ARREARS RATE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8" name="TextBox 8"/>
          <p:cNvSpPr/>
          <p:nvPr/>
        </p:nvSpPr>
        <p:spPr>
          <a:xfrm>
            <a:off x="6784920" y="226764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60.1%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59" name="TextBox 9"/>
          <p:cNvSpPr/>
          <p:nvPr/>
        </p:nvSpPr>
        <p:spPr>
          <a:xfrm>
            <a:off x="6784920" y="2788920"/>
            <a:ext cx="19656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Overdue + Unpaid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0" name="Rounded Rectangle 10"/>
          <p:cNvSpPr/>
          <p:nvPr/>
        </p:nvSpPr>
        <p:spPr>
          <a:xfrm>
            <a:off x="9144000" y="1783080"/>
            <a:ext cx="2331360" cy="132552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1" name="Rectangle 11"/>
          <p:cNvSpPr/>
          <p:nvPr/>
        </p:nvSpPr>
        <p:spPr>
          <a:xfrm>
            <a:off x="9144000" y="1783080"/>
            <a:ext cx="63720" cy="132552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62" name="TextBox 12"/>
          <p:cNvSpPr/>
          <p:nvPr/>
        </p:nvSpPr>
        <p:spPr>
          <a:xfrm>
            <a:off x="9345240" y="1947600"/>
            <a:ext cx="19656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NON-VACANT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3" name="TextBox 13"/>
          <p:cNvSpPr/>
          <p:nvPr/>
        </p:nvSpPr>
        <p:spPr>
          <a:xfrm>
            <a:off x="9345240" y="2267640"/>
            <a:ext cx="196560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20.2%</a:t>
            </a:r>
            <a:endParaRPr lang="en-US" sz="2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4" name="TextBox 14"/>
          <p:cNvSpPr/>
          <p:nvPr/>
        </p:nvSpPr>
        <p:spPr>
          <a:xfrm>
            <a:off x="9345240" y="2788920"/>
            <a:ext cx="1965600" cy="246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Overdue + Unpaid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5" name="TextBox 15"/>
          <p:cNvSpPr/>
          <p:nvPr/>
        </p:nvSpPr>
        <p:spPr>
          <a:xfrm>
            <a:off x="6583680" y="34290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Sinyal statistik</a:t>
            </a:r>
            <a:endParaRPr lang="en-US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6" name="TextBox 16"/>
          <p:cNvSpPr/>
          <p:nvPr/>
        </p:nvSpPr>
        <p:spPr>
          <a:xfrm>
            <a:off x="6583680" y="3794760"/>
            <a:ext cx="310860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Chi-square = 45,854.99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p-value &lt; 0.05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Cramer's V = 0.391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7" name="TextBox 17"/>
          <p:cNvSpPr/>
          <p:nvPr/>
        </p:nvSpPr>
        <p:spPr>
          <a:xfrm>
            <a:off x="6583680" y="4892040"/>
            <a:ext cx="475452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Interpretasi: status hunian dan status pembayaran memiliki hubungan pada dataset ini. Hal ini tidak membuktikan bahwa unit kosong menyebabkan tunggakan.</a:t>
            </a:r>
            <a:endParaRPr lang="en-US" sz="11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TextBox 18"/>
          <p:cNvSpPr/>
          <p:nvPr/>
        </p:nvSpPr>
        <p:spPr>
          <a:xfrm>
            <a:off x="731520" y="5577840"/>
            <a:ext cx="1060668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Unit kosong mencakup 24,7% unit tetapi berkontribusi sekitar 45.0% of outstanding value.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9" name="TextBox 19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70" name="TextBox 20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09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TextBox 1"/>
          <p:cNvSpPr/>
          <p:nvPr/>
        </p:nvSpPr>
        <p:spPr>
          <a:xfrm>
            <a:off x="594360" y="33093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 dirty="0">
                <a:solidFill>
                  <a:srgbClr val="29918B"/>
                </a:solidFill>
                <a:effectLst/>
                <a:uFillTx/>
                <a:latin typeface="Aptos"/>
              </a:rPr>
              <a:t>EDA • WILAYAH</a:t>
            </a:r>
            <a:endParaRPr lang="en-US" sz="9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2" name="TextBox 2"/>
          <p:cNvSpPr/>
          <p:nvPr/>
        </p:nvSpPr>
        <p:spPr>
          <a:xfrm>
            <a:off x="594360" y="542922"/>
            <a:ext cx="10881000" cy="8862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NavaPark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memiliki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rasio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tunggakan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tertinggi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; </a:t>
            </a:r>
            <a:r>
              <a:rPr lang="en-US" sz="2700" b="1" dirty="0">
                <a:solidFill>
                  <a:srgbClr val="202933"/>
                </a:solidFill>
                <a:latin typeface="Aptos"/>
              </a:rPr>
              <a:t>BSD City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memiliki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nilai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outstanding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terbesar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3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74" name="Picture 4" descr="township_arrears.png"/>
          <p:cNvPicPr/>
          <p:nvPr/>
        </p:nvPicPr>
        <p:blipFill>
          <a:blip r:embed="rId2"/>
          <a:stretch/>
        </p:blipFill>
        <p:spPr>
          <a:xfrm>
            <a:off x="640080" y="1600200"/>
            <a:ext cx="6400440" cy="41144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5" name="Rounded Rectangle 5"/>
          <p:cNvSpPr/>
          <p:nvPr/>
        </p:nvSpPr>
        <p:spPr>
          <a:xfrm>
            <a:off x="7315200" y="1737360"/>
            <a:ext cx="41144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8EB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6" name="Rectangle 6"/>
          <p:cNvSpPr/>
          <p:nvPr/>
        </p:nvSpPr>
        <p:spPr>
          <a:xfrm>
            <a:off x="7315200" y="1737360"/>
            <a:ext cx="63720" cy="1234080"/>
          </a:xfrm>
          <a:prstGeom prst="rect">
            <a:avLst/>
          </a:prstGeom>
          <a:solidFill>
            <a:srgbClr val="DA6559"/>
          </a:solidFill>
          <a:ln>
            <a:solidFill>
              <a:srgbClr val="DA65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77" name="TextBox 7"/>
          <p:cNvSpPr/>
          <p:nvPr/>
        </p:nvSpPr>
        <p:spPr>
          <a:xfrm>
            <a:off x="7516440" y="190188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6E73"/>
                </a:solidFill>
                <a:effectLst/>
                <a:uFillTx/>
                <a:latin typeface="Aptos"/>
              </a:rPr>
              <a:t>HIGHEST ARREARS RATIO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8" name="TextBox 8"/>
          <p:cNvSpPr/>
          <p:nvPr/>
        </p:nvSpPr>
        <p:spPr>
          <a:xfrm>
            <a:off x="7516440" y="2221920"/>
            <a:ext cx="37486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NavaPark • 30.43%</a:t>
            </a:r>
            <a:endParaRPr lang="en-US" sz="2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9" name="TextBox 9"/>
          <p:cNvSpPr/>
          <p:nvPr/>
        </p:nvSpPr>
        <p:spPr>
          <a:xfrm>
            <a:off x="7516440" y="2743200"/>
            <a:ext cx="37486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A5F64"/>
                </a:solidFill>
                <a:effectLst/>
                <a:uFillTx/>
                <a:latin typeface="Aptos"/>
              </a:rPr>
              <a:t>Risiko penagihan relatif tertinggi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0" name="Rounded Rectangle 10"/>
          <p:cNvSpPr/>
          <p:nvPr/>
        </p:nvSpPr>
        <p:spPr>
          <a:xfrm>
            <a:off x="7315200" y="3154680"/>
            <a:ext cx="41144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8EB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1" name="Rectangle 11"/>
          <p:cNvSpPr/>
          <p:nvPr/>
        </p:nvSpPr>
        <p:spPr>
          <a:xfrm>
            <a:off x="7315200" y="3154680"/>
            <a:ext cx="63720" cy="123408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2" name="TextBox 12"/>
          <p:cNvSpPr/>
          <p:nvPr/>
        </p:nvSpPr>
        <p:spPr>
          <a:xfrm>
            <a:off x="7516440" y="331920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6E73"/>
                </a:solidFill>
                <a:effectLst/>
                <a:uFillTx/>
                <a:latin typeface="Aptos"/>
              </a:rPr>
              <a:t>LARGEST OUTSTANDING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3" name="TextBox 13"/>
          <p:cNvSpPr/>
          <p:nvPr/>
        </p:nvSpPr>
        <p:spPr>
          <a:xfrm>
            <a:off x="7516440" y="3639240"/>
            <a:ext cx="3748680" cy="4091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dirty="0">
                <a:solidFill>
                  <a:srgbClr val="202933"/>
                </a:solidFill>
                <a:latin typeface="Aptos"/>
              </a:rPr>
              <a:t>BSD City</a:t>
            </a:r>
            <a:r>
              <a:rPr lang="en-US" sz="23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• Rp39.0</a:t>
            </a:r>
            <a:r>
              <a:rPr lang="en-US" sz="2300" b="1" dirty="0">
                <a:solidFill>
                  <a:srgbClr val="202933"/>
                </a:solidFill>
                <a:latin typeface="Aptos"/>
              </a:rPr>
              <a:t>4</a:t>
            </a:r>
            <a:r>
              <a:rPr lang="en-US" sz="23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B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4" name="TextBox 14"/>
          <p:cNvSpPr/>
          <p:nvPr/>
        </p:nvSpPr>
        <p:spPr>
          <a:xfrm>
            <a:off x="7516440" y="4160520"/>
            <a:ext cx="37486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A5F64"/>
                </a:solidFill>
                <a:effectLst/>
                <a:uFillTx/>
                <a:latin typeface="Aptos"/>
              </a:rPr>
              <a:t>Eksposur nominal terbesar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5" name="Rounded Rectangle 15"/>
          <p:cNvSpPr/>
          <p:nvPr/>
        </p:nvSpPr>
        <p:spPr>
          <a:xfrm>
            <a:off x="7315200" y="4572000"/>
            <a:ext cx="4114440" cy="123408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E8EBE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6" name="Rectangle 16"/>
          <p:cNvSpPr/>
          <p:nvPr/>
        </p:nvSpPr>
        <p:spPr>
          <a:xfrm>
            <a:off x="7315200" y="4572000"/>
            <a:ext cx="63720" cy="123408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87" name="TextBox 17"/>
          <p:cNvSpPr/>
          <p:nvPr/>
        </p:nvSpPr>
        <p:spPr>
          <a:xfrm>
            <a:off x="7516440" y="4736520"/>
            <a:ext cx="37486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646E73"/>
                </a:solidFill>
                <a:effectLst/>
                <a:uFillTx/>
                <a:latin typeface="Aptos"/>
              </a:rPr>
              <a:t>TOP CLUSTER</a:t>
            </a:r>
            <a:endParaRPr lang="en-US" sz="8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8" name="TextBox 18"/>
          <p:cNvSpPr/>
          <p:nvPr/>
        </p:nvSpPr>
        <p:spPr>
          <a:xfrm>
            <a:off x="7516440" y="5056560"/>
            <a:ext cx="3748680" cy="4091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CLS-SML-067 • 34%</a:t>
            </a:r>
            <a:endParaRPr lang="en-US" sz="2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9" name="TextBox 19"/>
          <p:cNvSpPr/>
          <p:nvPr/>
        </p:nvSpPr>
        <p:spPr>
          <a:xfrm>
            <a:off x="7516440" y="5577840"/>
            <a:ext cx="3748680" cy="155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5A5F64"/>
                </a:solidFill>
                <a:effectLst/>
                <a:uFillTx/>
                <a:latin typeface="Aptos"/>
              </a:rPr>
              <a:t>Kota Wisata • prioritas tingkat cluster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0" name="TextBox 20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1" name="TextBox 21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1"/>
          <p:cNvSpPr/>
          <p:nvPr/>
        </p:nvSpPr>
        <p:spPr>
          <a:xfrm>
            <a:off x="594360" y="3841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EDA • KUALITAS DATA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3" name="TextBox 2"/>
          <p:cNvSpPr/>
          <p:nvPr/>
        </p:nvSpPr>
        <p:spPr>
          <a:xfrm>
            <a:off x="594360" y="53514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Kualitas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data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dapat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langsung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memengaruhi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rekonsiliasi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dan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pelaksanaan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penagihan</a:t>
            </a:r>
            <a:endParaRPr lang="en-US" sz="2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4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95" name="Picture 4" descr="payment_methods.png"/>
          <p:cNvPicPr/>
          <p:nvPr/>
        </p:nvPicPr>
        <p:blipFill>
          <a:blip r:embed="rId2"/>
          <a:stretch/>
        </p:blipFill>
        <p:spPr>
          <a:xfrm>
            <a:off x="594360" y="1600200"/>
            <a:ext cx="5714640" cy="38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6" name="TextBox 5"/>
          <p:cNvSpPr/>
          <p:nvPr/>
        </p:nvSpPr>
        <p:spPr>
          <a:xfrm>
            <a:off x="6537960" y="17373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Metode pembayaran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7" name="TextBox 6"/>
          <p:cNvSpPr/>
          <p:nvPr/>
        </p:nvSpPr>
        <p:spPr>
          <a:xfrm>
            <a:off x="6537960" y="2148840"/>
            <a:ext cx="4663080" cy="15084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45000" rIns="3672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• 9 label mentah distandardisasi menjadi 4 kategori.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• 90,278 invoice masih memiliki nilai payment_method yang kosong.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799"/>
              </a:spcAft>
            </a:pPr>
            <a:r>
              <a:rPr lang="en-US" sz="1250" b="0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• Daftar referensi/master dapat mencegah variasi label pada input berikutnya.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8" name="Rounded Rectangle 7"/>
          <p:cNvSpPr/>
          <p:nvPr/>
        </p:nvSpPr>
        <p:spPr>
          <a:xfrm>
            <a:off x="6537960" y="3977640"/>
            <a:ext cx="4663080" cy="141696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99" name="TextBox 8"/>
          <p:cNvSpPr/>
          <p:nvPr/>
        </p:nvSpPr>
        <p:spPr>
          <a:xfrm>
            <a:off x="6766560" y="411462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 dirty="0" err="1">
                <a:solidFill>
                  <a:srgbClr val="E8A94C"/>
                </a:solidFill>
                <a:effectLst/>
                <a:uFillTx/>
                <a:latin typeface="Aptos"/>
              </a:rPr>
              <a:t>Kesiapan</a:t>
            </a:r>
            <a:r>
              <a:rPr lang="en-US" sz="1300" b="1" u="none" strike="noStrike" dirty="0">
                <a:solidFill>
                  <a:srgbClr val="E8A94C"/>
                </a:solidFill>
                <a:effectLst/>
                <a:uFillTx/>
                <a:latin typeface="Aptos"/>
              </a:rPr>
              <a:t> </a:t>
            </a:r>
            <a:r>
              <a:rPr lang="en-US" sz="1300" b="1" u="none" strike="noStrike" dirty="0" err="1">
                <a:solidFill>
                  <a:srgbClr val="E8A94C"/>
                </a:solidFill>
                <a:effectLst/>
                <a:uFillTx/>
                <a:latin typeface="Aptos"/>
              </a:rPr>
              <a:t>penagihan</a:t>
            </a:r>
            <a:endParaRPr lang="en-US" sz="1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TextBox 9"/>
          <p:cNvSpPr/>
          <p:nvPr/>
        </p:nvSpPr>
        <p:spPr>
          <a:xfrm>
            <a:off x="6766560" y="4425660"/>
            <a:ext cx="411444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8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5,000 units (20%) have no contact number.</a:t>
            </a:r>
            <a:endParaRPr lang="en-US" sz="18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1" name="TextBox 10"/>
          <p:cNvSpPr/>
          <p:nvPr/>
        </p:nvSpPr>
        <p:spPr>
          <a:xfrm>
            <a:off x="6766560" y="5020560"/>
            <a:ext cx="402300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Data </a:t>
            </a:r>
            <a:r>
              <a:rPr lang="en-US" sz="10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kontak</a:t>
            </a:r>
            <a:r>
              <a:rPr lang="en-US" sz="10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yang </a:t>
            </a:r>
            <a:r>
              <a:rPr lang="en-US" sz="10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kosong</a:t>
            </a:r>
            <a:r>
              <a:rPr lang="en-US" sz="10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</a:t>
            </a:r>
            <a:r>
              <a:rPr lang="en-US" sz="10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dapat</a:t>
            </a:r>
            <a:r>
              <a:rPr lang="en-US" sz="10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</a:t>
            </a:r>
            <a:r>
              <a:rPr lang="en-US" sz="10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mengurangi</a:t>
            </a:r>
            <a:r>
              <a:rPr lang="en-US" sz="10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</a:t>
            </a:r>
            <a:r>
              <a:rPr lang="en-US" sz="10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efektivitas</a:t>
            </a:r>
            <a:r>
              <a:rPr lang="en-US" sz="10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proses </a:t>
            </a:r>
            <a:r>
              <a:rPr lang="en-US" sz="10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penagihan</a:t>
            </a:r>
            <a:r>
              <a:rPr lang="en-US" sz="10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.</a:t>
            </a:r>
            <a:endParaRPr lang="en-US" sz="10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2" name="TextBox 11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3" name="TextBox 12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11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TextBox 1"/>
          <p:cNvSpPr/>
          <p:nvPr/>
        </p:nvSpPr>
        <p:spPr>
          <a:xfrm>
            <a:off x="588815" y="331183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EDA • ANOMALI SISTEM &amp; BILLING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5" name="TextBox 2"/>
          <p:cNvSpPr/>
          <p:nvPr/>
        </p:nvSpPr>
        <p:spPr>
          <a:xfrm>
            <a:off x="588815" y="546708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6.291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catatan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pembayaran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dan 3.000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catatan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air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memerlukan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perhatian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pada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tingkat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sistem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6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7" name="Rounded Rectangle 4"/>
          <p:cNvSpPr/>
          <p:nvPr/>
        </p:nvSpPr>
        <p:spPr>
          <a:xfrm>
            <a:off x="640080" y="1691640"/>
            <a:ext cx="5303160" cy="416016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solidFill>
              <a:srgbClr val="D7DAD7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8" name="TextBox 5"/>
          <p:cNvSpPr/>
          <p:nvPr/>
        </p:nvSpPr>
        <p:spPr>
          <a:xfrm>
            <a:off x="914400" y="1965960"/>
            <a:ext cx="27428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Pembayaran sebelum handover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9" name="TextBox 6"/>
          <p:cNvSpPr/>
          <p:nvPr/>
        </p:nvSpPr>
        <p:spPr>
          <a:xfrm>
            <a:off x="914400" y="2514600"/>
            <a:ext cx="219420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DA6559"/>
                </a:solidFill>
                <a:effectLst/>
                <a:uFillTx/>
                <a:latin typeface="Aptos"/>
              </a:rPr>
              <a:t>6,291</a:t>
            </a:r>
            <a:endParaRPr lang="en-US" sz="3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0" name="TextBox 7"/>
          <p:cNvSpPr/>
          <p:nvPr/>
        </p:nvSpPr>
        <p:spPr>
          <a:xfrm>
            <a:off x="914400" y="3063240"/>
            <a:ext cx="22856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5F6469"/>
                </a:solidFill>
                <a:effectLst/>
                <a:uFillTx/>
                <a:latin typeface="Aptos"/>
              </a:rPr>
              <a:t>Invoice Paid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1" name="TextBox 8"/>
          <p:cNvSpPr/>
          <p:nvPr/>
        </p:nvSpPr>
        <p:spPr>
          <a:xfrm>
            <a:off x="914400" y="3520440"/>
            <a:ext cx="34743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Rp8.35B nilai invoice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2" name="TextBox 9"/>
          <p:cNvSpPr/>
          <p:nvPr/>
        </p:nvSpPr>
        <p:spPr>
          <a:xfrm>
            <a:off x="914400" y="4160520"/>
            <a:ext cx="411444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Aturan: payment_date &lt; handover_date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3" name="TextBox 10"/>
          <p:cNvSpPr/>
          <p:nvPr/>
        </p:nvSpPr>
        <p:spPr>
          <a:xfrm>
            <a:off x="914400" y="4572000"/>
            <a:ext cx="4434480" cy="868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Perlakukan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sebagai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anomali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kualitas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data/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aturan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bisnis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. 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Rekonsiliasi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dengan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ERP dan 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catatan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transaksi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sebelum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menyimpulkan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</a:t>
            </a:r>
            <a:r>
              <a:rPr lang="en-US" sz="1150" b="0" u="none" strike="noStrike" dirty="0" err="1">
                <a:solidFill>
                  <a:srgbClr val="555A5F"/>
                </a:solidFill>
                <a:effectLst/>
                <a:uFillTx/>
                <a:latin typeface="Aptos"/>
              </a:rPr>
              <a:t>sebagai</a:t>
            </a:r>
            <a:r>
              <a:rPr lang="en-US" sz="1150" b="0" u="none" strike="noStrike" dirty="0">
                <a:solidFill>
                  <a:srgbClr val="555A5F"/>
                </a:solidFill>
                <a:effectLst/>
                <a:uFillTx/>
                <a:latin typeface="Aptos"/>
              </a:rPr>
              <a:t> fraud.</a:t>
            </a:r>
            <a:endParaRPr lang="en-US" sz="11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4" name="Picture 11" descr="water_anomaly.png"/>
          <p:cNvPicPr/>
          <p:nvPr/>
        </p:nvPicPr>
        <p:blipFill>
          <a:blip r:embed="rId2"/>
          <a:stretch/>
        </p:blipFill>
        <p:spPr>
          <a:xfrm>
            <a:off x="6263640" y="1691640"/>
            <a:ext cx="5211720" cy="2925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5" name="TextBox 12"/>
          <p:cNvSpPr/>
          <p:nvPr/>
        </p:nvSpPr>
        <p:spPr>
          <a:xfrm>
            <a:off x="6492240" y="4709160"/>
            <a:ext cx="457164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1,519 negative values + 1,481 Outlier IQRs</a:t>
            </a:r>
            <a:endParaRPr lang="en-U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6" name="TextBox 13"/>
          <p:cNvSpPr/>
          <p:nvPr/>
        </p:nvSpPr>
        <p:spPr>
          <a:xfrm>
            <a:off x="6492240" y="5212080"/>
            <a:ext cx="4571640" cy="548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IQR upper bound = 87 m³. Penggunaan negatif is logically invalid; extreme usage should be verified before billing.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7" name="TextBox 14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8" name="TextBox 15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12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TextBox 1"/>
          <p:cNvSpPr/>
          <p:nvPr/>
        </p:nvSpPr>
        <p:spPr>
          <a:xfrm>
            <a:off x="594360" y="3841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EDA • SINYAL AGING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0" name="TextBox 2"/>
          <p:cNvSpPr/>
          <p:nvPr/>
        </p:nvSpPr>
        <p:spPr>
          <a:xfrm>
            <a:off x="594360" y="53532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Tunggakan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kronis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ditemukan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—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tetapi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streak &gt;6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bulan</a:t>
            </a:r>
            <a:r>
              <a:rPr lang="en-US" sz="27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sangat </a:t>
            </a:r>
            <a:r>
              <a:rPr lang="en-US" sz="270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terkonsentrasi</a:t>
            </a:r>
            <a:endParaRPr lang="en-US" sz="27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1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2" name="Rounded Rectangle 4"/>
          <p:cNvSpPr/>
          <p:nvPr/>
        </p:nvSpPr>
        <p:spPr>
          <a:xfrm>
            <a:off x="685800" y="1737360"/>
            <a:ext cx="2742840" cy="141696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bg1">
                  <a:lumMod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323" name="Rectangle 5"/>
          <p:cNvSpPr/>
          <p:nvPr/>
        </p:nvSpPr>
        <p:spPr>
          <a:xfrm>
            <a:off x="685800" y="1737360"/>
            <a:ext cx="63720" cy="1416960"/>
          </a:xfrm>
          <a:prstGeom prst="rect">
            <a:avLst/>
          </a:prstGeom>
          <a:solidFill>
            <a:srgbClr val="DA6559"/>
          </a:solidFill>
          <a:ln>
            <a:solidFill>
              <a:srgbClr val="DA65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4" name="TextBox 6"/>
          <p:cNvSpPr/>
          <p:nvPr/>
        </p:nvSpPr>
        <p:spPr>
          <a:xfrm>
            <a:off x="887040" y="190188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STREAKS &gt; 6 MONTHS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5" name="TextBox 7"/>
          <p:cNvSpPr/>
          <p:nvPr/>
        </p:nvSpPr>
        <p:spPr>
          <a:xfrm>
            <a:off x="887040" y="2221920"/>
            <a:ext cx="2377080" cy="4091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dirty="0">
                <a:solidFill>
                  <a:srgbClr val="FFFFFF"/>
                </a:solidFill>
                <a:latin typeface="Aptos"/>
              </a:rPr>
              <a:t>6</a:t>
            </a:r>
            <a:endParaRPr lang="en-US" sz="2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6" name="TextBox 8"/>
          <p:cNvSpPr/>
          <p:nvPr/>
        </p:nvSpPr>
        <p:spPr>
          <a:xfrm>
            <a:off x="887040" y="2743200"/>
            <a:ext cx="2377080" cy="20914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ID" sz="1000" dirty="0" err="1">
                <a:solidFill>
                  <a:schemeClr val="bg1">
                    <a:lumMod val="75000"/>
                  </a:schemeClr>
                </a:solidFill>
              </a:rPr>
              <a:t>Jumlah</a:t>
            </a:r>
            <a:r>
              <a:rPr lang="en-ID" sz="1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ID" sz="900" dirty="0" err="1">
                <a:solidFill>
                  <a:schemeClr val="bg1">
                    <a:lumMod val="75000"/>
                  </a:schemeClr>
                </a:solidFill>
              </a:rPr>
              <a:t>rangkaian</a:t>
            </a:r>
            <a:r>
              <a:rPr lang="en-ID" sz="10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ID" sz="1000" dirty="0" err="1">
                <a:solidFill>
                  <a:schemeClr val="bg1">
                    <a:lumMod val="75000"/>
                  </a:schemeClr>
                </a:solidFill>
              </a:rPr>
              <a:t>tunggakan</a:t>
            </a:r>
            <a:r>
              <a:rPr lang="en-ID" sz="1000" dirty="0">
                <a:solidFill>
                  <a:schemeClr val="bg1">
                    <a:lumMod val="75000"/>
                  </a:schemeClr>
                </a:solidFill>
              </a:rPr>
              <a:t> &gt;6 </a:t>
            </a:r>
            <a:r>
              <a:rPr lang="en-ID" sz="1000" dirty="0" err="1">
                <a:solidFill>
                  <a:schemeClr val="bg1">
                    <a:lumMod val="75000"/>
                  </a:schemeClr>
                </a:solidFill>
              </a:rPr>
              <a:t>bulan</a:t>
            </a:r>
            <a:endParaRPr lang="en-US" sz="950" b="0" u="none" strike="noStrike" dirty="0">
              <a:solidFill>
                <a:schemeClr val="bg1">
                  <a:lumMod val="75000"/>
                </a:schemeClr>
              </a:solidFill>
              <a:effectLst/>
              <a:uFillTx/>
              <a:latin typeface="Arial"/>
            </a:endParaRPr>
          </a:p>
        </p:txBody>
      </p:sp>
      <p:sp>
        <p:nvSpPr>
          <p:cNvPr id="327" name="Rounded Rectangle 9"/>
          <p:cNvSpPr/>
          <p:nvPr/>
        </p:nvSpPr>
        <p:spPr>
          <a:xfrm>
            <a:off x="3703320" y="1737360"/>
            <a:ext cx="2742840" cy="141696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8" name="Rectangle 10"/>
          <p:cNvSpPr/>
          <p:nvPr/>
        </p:nvSpPr>
        <p:spPr>
          <a:xfrm>
            <a:off x="3703320" y="1737360"/>
            <a:ext cx="63720" cy="141696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29" name="TextBox 11"/>
          <p:cNvSpPr/>
          <p:nvPr/>
        </p:nvSpPr>
        <p:spPr>
          <a:xfrm>
            <a:off x="3904560" y="190188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UNITS INVOLVED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12"/>
          <p:cNvSpPr/>
          <p:nvPr/>
        </p:nvSpPr>
        <p:spPr>
          <a:xfrm>
            <a:off x="3904560" y="2221920"/>
            <a:ext cx="2377080" cy="4091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dirty="0">
                <a:solidFill>
                  <a:srgbClr val="FFFFFF"/>
                </a:solidFill>
                <a:latin typeface="Aptos"/>
              </a:rPr>
              <a:t>6</a:t>
            </a:r>
            <a:endParaRPr lang="en-US" sz="2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13"/>
          <p:cNvSpPr/>
          <p:nvPr/>
        </p:nvSpPr>
        <p:spPr>
          <a:xfrm>
            <a:off x="3904560" y="274320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Tunggakan</a:t>
            </a:r>
            <a:r>
              <a:rPr lang="en-US" sz="9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</a:t>
            </a:r>
            <a:r>
              <a:rPr lang="en-US" sz="9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kronis</a:t>
            </a:r>
            <a:r>
              <a:rPr lang="en-US" sz="9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</a:t>
            </a:r>
            <a:r>
              <a:rPr lang="en-US" sz="950" b="0" u="none" strike="noStrike" dirty="0" err="1">
                <a:solidFill>
                  <a:srgbClr val="A8B4BE"/>
                </a:solidFill>
                <a:effectLst/>
                <a:uFillTx/>
                <a:latin typeface="Aptos"/>
              </a:rPr>
              <a:t>tingkat</a:t>
            </a:r>
            <a:r>
              <a:rPr lang="en-US" sz="950" b="0" u="none" strike="noStrike" dirty="0">
                <a:solidFill>
                  <a:srgbClr val="A8B4BE"/>
                </a:solidFill>
                <a:effectLst/>
                <a:uFillTx/>
                <a:latin typeface="Aptos"/>
              </a:rPr>
              <a:t> unit</a:t>
            </a:r>
            <a:endParaRPr lang="en-US" sz="95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2" name="Rounded Rectangle 14"/>
          <p:cNvSpPr/>
          <p:nvPr/>
        </p:nvSpPr>
        <p:spPr>
          <a:xfrm>
            <a:off x="6720840" y="1737360"/>
            <a:ext cx="2742840" cy="141696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3" name="Rectangle 15"/>
          <p:cNvSpPr/>
          <p:nvPr/>
        </p:nvSpPr>
        <p:spPr>
          <a:xfrm>
            <a:off x="6720840" y="1737360"/>
            <a:ext cx="63720" cy="141696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34" name="TextBox 16"/>
          <p:cNvSpPr/>
          <p:nvPr/>
        </p:nvSpPr>
        <p:spPr>
          <a:xfrm>
            <a:off x="6922080" y="1901880"/>
            <a:ext cx="23770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850" b="1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OUTSTANDING</a:t>
            </a:r>
            <a:endParaRPr lang="en-US" sz="8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5" name="TextBox 17"/>
          <p:cNvSpPr/>
          <p:nvPr/>
        </p:nvSpPr>
        <p:spPr>
          <a:xfrm>
            <a:off x="6922080" y="2221920"/>
            <a:ext cx="2377080" cy="4091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30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Rp117.88M</a:t>
            </a:r>
            <a:endParaRPr lang="en-US" sz="23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6" name="TextBox 18"/>
          <p:cNvSpPr/>
          <p:nvPr/>
        </p:nvSpPr>
        <p:spPr>
          <a:xfrm>
            <a:off x="6922080" y="2743200"/>
            <a:ext cx="2377080" cy="338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Nilai yang terkait dengan streak</a:t>
            </a:r>
            <a:endParaRPr lang="en-US" sz="9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7" name="TextBox 19"/>
          <p:cNvSpPr/>
          <p:nvPr/>
        </p:nvSpPr>
        <p:spPr>
          <a:xfrm>
            <a:off x="731520" y="3657600"/>
            <a:ext cx="19198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Mengapa ini penting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8" name="TextBox 20"/>
          <p:cNvSpPr/>
          <p:nvPr/>
        </p:nvSpPr>
        <p:spPr>
          <a:xfrm>
            <a:off x="731520" y="4069080"/>
            <a:ext cx="10423800" cy="145022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720" tIns="45000" rIns="36720" bIns="45000" anchor="t">
            <a:spAutoFit/>
          </a:bodyPr>
          <a:lstStyle/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•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Jangan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menyamakan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total outstanding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dengan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tunggakan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kronis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: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banyak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invoice unpaid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dapat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terjadi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tanpa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streak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tunggakan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&gt;6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bulan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•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Aturan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saat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ini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mengidentifikasi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dirty="0" err="1">
                <a:solidFill>
                  <a:srgbClr val="FFFFFF"/>
                </a:solidFill>
                <a:latin typeface="Aptos"/>
              </a:rPr>
              <a:t>enam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streak yang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memenuhi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kriteria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,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sehingga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penagihan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sebaiknya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menggabungkan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aging, nominal, dan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lokasi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1100"/>
              </a:spcAft>
            </a:pP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• Dashboard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produksi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sebaiknya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memantau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aging bucket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sekaligus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logika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streak </a:t>
            </a:r>
            <a:r>
              <a:rPr lang="en-US" sz="1400" b="0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berturut-turut</a:t>
            </a:r>
            <a:r>
              <a:rPr lang="en-US" sz="1400" b="0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.</a:t>
            </a:r>
            <a:endParaRPr lang="en-US" sz="1400" b="0" u="none" strike="noStrike" dirty="0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9" name="TextBox 21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0" name="TextBox 22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13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TextBox 1"/>
          <p:cNvSpPr/>
          <p:nvPr/>
        </p:nvSpPr>
        <p:spPr>
          <a:xfrm>
            <a:off x="609960" y="3157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KESIMPULAN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2" name="TextBox 2"/>
          <p:cNvSpPr/>
          <p:nvPr/>
        </p:nvSpPr>
        <p:spPr>
          <a:xfrm>
            <a:off x="594360" y="49649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Peluang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terbesar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adalah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penagihan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yang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lebih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terarah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—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didukung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pengendalian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data yang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lebih</a:t>
            </a:r>
            <a:r>
              <a:rPr lang="en-US" sz="2700" b="1" u="none" strike="noStrike" dirty="0">
                <a:solidFill>
                  <a:srgbClr val="202933"/>
                </a:solidFill>
                <a:effectLst/>
                <a:uFillTx/>
                <a:latin typeface="Aptos"/>
              </a:rPr>
              <a:t> </a:t>
            </a:r>
            <a:r>
              <a:rPr lang="en-US" sz="2700" b="1" u="none" strike="noStrike" dirty="0" err="1">
                <a:solidFill>
                  <a:srgbClr val="202933"/>
                </a:solidFill>
                <a:effectLst/>
                <a:uFillTx/>
                <a:latin typeface="Aptos"/>
              </a:rPr>
              <a:t>baik</a:t>
            </a:r>
            <a:endParaRPr lang="en-US" sz="27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3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4" name="Rectangle 4"/>
          <p:cNvSpPr/>
          <p:nvPr/>
        </p:nvSpPr>
        <p:spPr>
          <a:xfrm>
            <a:off x="685800" y="1737360"/>
            <a:ext cx="82080" cy="749520"/>
          </a:xfrm>
          <a:prstGeom prst="rect">
            <a:avLst/>
          </a:prstGeom>
          <a:solidFill>
            <a:srgbClr val="DA6559"/>
          </a:solidFill>
          <a:ln>
            <a:solidFill>
              <a:srgbClr val="DA65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5" name="TextBox 5"/>
          <p:cNvSpPr/>
          <p:nvPr/>
        </p:nvSpPr>
        <p:spPr>
          <a:xfrm>
            <a:off x="960120" y="181044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Pendapatan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6" name="TextBox 6"/>
          <p:cNvSpPr/>
          <p:nvPr/>
        </p:nvSpPr>
        <p:spPr>
          <a:xfrm>
            <a:off x="2194560" y="1774080"/>
            <a:ext cx="8777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64B50"/>
                </a:solidFill>
                <a:effectLst/>
                <a:uFillTx/>
                <a:latin typeface="Aptos"/>
              </a:rPr>
              <a:t>Rp117.26B outstanding menunjukkan peluang penagihan yang jelas.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7" name="Rectangle 7"/>
          <p:cNvSpPr/>
          <p:nvPr/>
        </p:nvSpPr>
        <p:spPr>
          <a:xfrm>
            <a:off x="685800" y="2606040"/>
            <a:ext cx="82080" cy="74952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48" name="TextBox 8"/>
          <p:cNvSpPr/>
          <p:nvPr/>
        </p:nvSpPr>
        <p:spPr>
          <a:xfrm>
            <a:off x="960120" y="267912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Status hunian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9" name="TextBox 9"/>
          <p:cNvSpPr/>
          <p:nvPr/>
        </p:nvSpPr>
        <p:spPr>
          <a:xfrm>
            <a:off x="2194560" y="2642760"/>
            <a:ext cx="8777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64B50"/>
                </a:solidFill>
                <a:effectLst/>
                <a:uFillTx/>
                <a:latin typeface="Aptos"/>
              </a:rPr>
              <a:t>Vacant units show a 60.1% arrears rate vs 20.2% for non-vacant.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0" name="Rectangle 10"/>
          <p:cNvSpPr/>
          <p:nvPr/>
        </p:nvSpPr>
        <p:spPr>
          <a:xfrm>
            <a:off x="685800" y="3474720"/>
            <a:ext cx="82080" cy="74952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1" name="TextBox 11"/>
          <p:cNvSpPr/>
          <p:nvPr/>
        </p:nvSpPr>
        <p:spPr>
          <a:xfrm>
            <a:off x="960120" y="354780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Wilayah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2" name="TextBox 12"/>
          <p:cNvSpPr/>
          <p:nvPr/>
        </p:nvSpPr>
        <p:spPr>
          <a:xfrm>
            <a:off x="2194560" y="3511440"/>
            <a:ext cx="8777880" cy="25530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 dirty="0" err="1">
                <a:solidFill>
                  <a:srgbClr val="464B50"/>
                </a:solidFill>
                <a:effectLst/>
                <a:uFillTx/>
                <a:latin typeface="Aptos"/>
              </a:rPr>
              <a:t>NavaPark</a:t>
            </a:r>
            <a:r>
              <a:rPr lang="en-US" sz="1300" b="0" u="none" strike="noStrike" dirty="0">
                <a:solidFill>
                  <a:srgbClr val="464B50"/>
                </a:solidFill>
                <a:effectLst/>
                <a:uFillTx/>
                <a:latin typeface="Aptos"/>
              </a:rPr>
              <a:t> leads on ratio; </a:t>
            </a:r>
            <a:r>
              <a:rPr lang="en-US" sz="1300" dirty="0">
                <a:solidFill>
                  <a:srgbClr val="464B50"/>
                </a:solidFill>
                <a:latin typeface="Aptos"/>
              </a:rPr>
              <a:t>BSD City</a:t>
            </a:r>
            <a:r>
              <a:rPr lang="en-US" sz="1300" b="0" u="none" strike="noStrike" dirty="0">
                <a:solidFill>
                  <a:srgbClr val="464B50"/>
                </a:solidFill>
                <a:effectLst/>
                <a:uFillTx/>
                <a:latin typeface="Aptos"/>
              </a:rPr>
              <a:t> leads on nominal exposure.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3" name="Rectangle 13"/>
          <p:cNvSpPr/>
          <p:nvPr/>
        </p:nvSpPr>
        <p:spPr>
          <a:xfrm>
            <a:off x="685800" y="4343400"/>
            <a:ext cx="82080" cy="749520"/>
          </a:xfrm>
          <a:prstGeom prst="rect">
            <a:avLst/>
          </a:prstGeom>
          <a:solidFill>
            <a:srgbClr val="4FBEB2"/>
          </a:solidFill>
          <a:ln>
            <a:solidFill>
              <a:srgbClr val="4FBEB2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4" name="TextBox 14"/>
          <p:cNvSpPr/>
          <p:nvPr/>
        </p:nvSpPr>
        <p:spPr>
          <a:xfrm>
            <a:off x="960120" y="441648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Kualitas data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5" name="TextBox 15"/>
          <p:cNvSpPr/>
          <p:nvPr/>
        </p:nvSpPr>
        <p:spPr>
          <a:xfrm>
            <a:off x="2194560" y="4380120"/>
            <a:ext cx="8777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64B50"/>
                </a:solidFill>
                <a:effectLst/>
                <a:uFillTx/>
                <a:latin typeface="Aptos"/>
              </a:rPr>
              <a:t>90,278 missing payment methods and 5,000 missing contacts mengurangi kesiapan operasional.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6" name="Rectangle 16"/>
          <p:cNvSpPr/>
          <p:nvPr/>
        </p:nvSpPr>
        <p:spPr>
          <a:xfrm>
            <a:off x="685800" y="5212080"/>
            <a:ext cx="82080" cy="749520"/>
          </a:xfrm>
          <a:prstGeom prst="rect">
            <a:avLst/>
          </a:prstGeom>
          <a:solidFill>
            <a:srgbClr val="DA6559"/>
          </a:solidFill>
          <a:ln>
            <a:solidFill>
              <a:srgbClr val="DA65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57" name="TextBox 17"/>
          <p:cNvSpPr/>
          <p:nvPr/>
        </p:nvSpPr>
        <p:spPr>
          <a:xfrm>
            <a:off x="960120" y="5285160"/>
            <a:ext cx="123408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Pengendalian sistem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8" name="TextBox 18"/>
          <p:cNvSpPr/>
          <p:nvPr/>
        </p:nvSpPr>
        <p:spPr>
          <a:xfrm>
            <a:off x="2194560" y="5248800"/>
            <a:ext cx="8777880" cy="502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464B50"/>
                </a:solidFill>
                <a:effectLst/>
                <a:uFillTx/>
                <a:latin typeface="Aptos"/>
              </a:rPr>
              <a:t>6,291 pre-handover payments and water anomalies menunjukkan adanya celah validasi.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9" name="Rounded Rectangle 19"/>
          <p:cNvSpPr/>
          <p:nvPr/>
        </p:nvSpPr>
        <p:spPr>
          <a:xfrm>
            <a:off x="640080" y="5870104"/>
            <a:ext cx="10789560" cy="548280"/>
          </a:xfrm>
          <a:prstGeom prst="roundRect">
            <a:avLst>
              <a:gd name="adj" fmla="val 16667"/>
            </a:avLst>
          </a:prstGeom>
          <a:solidFill>
            <a:srgbClr val="0F1928"/>
          </a:solidFill>
          <a:ln>
            <a:solidFill>
              <a:srgbClr val="0F192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0" name="TextBox 20"/>
          <p:cNvSpPr/>
          <p:nvPr/>
        </p:nvSpPr>
        <p:spPr>
          <a:xfrm>
            <a:off x="813600" y="5952544"/>
            <a:ext cx="10240920" cy="255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ctr" defTabSz="457200">
              <a:lnSpc>
                <a:spcPct val="100000"/>
              </a:lnSpc>
            </a:pP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Dampak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bisnis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: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fokuskan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penagihan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pada area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dengan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risiko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dan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nilai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terbesar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,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sekaligus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mengurangi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kesalahan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rekonsiliasi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 dan billing yang </a:t>
            </a:r>
            <a:r>
              <a:rPr lang="en-US" sz="1250" b="1" u="none" strike="noStrike" dirty="0" err="1">
                <a:solidFill>
                  <a:srgbClr val="FFFFFF"/>
                </a:solidFill>
                <a:effectLst/>
                <a:uFillTx/>
                <a:latin typeface="Aptos"/>
              </a:rPr>
              <a:t>berulang</a:t>
            </a:r>
            <a:r>
              <a:rPr lang="en-US" sz="1250" b="1" u="none" strike="noStrike" dirty="0">
                <a:solidFill>
                  <a:srgbClr val="FFFFFF"/>
                </a:solidFill>
                <a:effectLst/>
                <a:uFillTx/>
                <a:latin typeface="Aptos"/>
              </a:rPr>
              <a:t>.</a:t>
            </a:r>
            <a:endParaRPr lang="en-US" sz="12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1" name="TextBox 21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2" name="TextBox 22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14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9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TextBox 1"/>
          <p:cNvSpPr/>
          <p:nvPr/>
        </p:nvSpPr>
        <p:spPr>
          <a:xfrm>
            <a:off x="594360" y="3841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REKOMENDASI</a:t>
            </a:r>
            <a:endParaRPr lang="en-US" sz="9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4" name="TextBox 2"/>
          <p:cNvSpPr/>
          <p:nvPr/>
        </p:nvSpPr>
        <p:spPr>
          <a:xfrm>
            <a:off x="594360" y="6948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Tiga jalur aksi menghubungkan hasil analisis dengan operasional</a:t>
            </a:r>
            <a:endParaRPr lang="en-US" sz="27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5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6" name="Rounded Rectangle 4"/>
          <p:cNvSpPr/>
          <p:nvPr/>
        </p:nvSpPr>
        <p:spPr>
          <a:xfrm>
            <a:off x="685800" y="1783080"/>
            <a:ext cx="3062880" cy="352008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67" name="TextBox 5"/>
          <p:cNvSpPr/>
          <p:nvPr/>
        </p:nvSpPr>
        <p:spPr>
          <a:xfrm>
            <a:off x="914400" y="201168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01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TextBox 6"/>
          <p:cNvSpPr/>
          <p:nvPr/>
        </p:nvSpPr>
        <p:spPr>
          <a:xfrm>
            <a:off x="914400" y="25146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PULIHKAN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9" name="TextBox 7"/>
          <p:cNvSpPr/>
          <p:nvPr/>
        </p:nvSpPr>
        <p:spPr>
          <a:xfrm>
            <a:off x="914400" y="3154680"/>
            <a:ext cx="2514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Prioritaskan penagihan berdasarkan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outstanding × aging × lokasi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0" name="Rectangle 8"/>
          <p:cNvSpPr/>
          <p:nvPr/>
        </p:nvSpPr>
        <p:spPr>
          <a:xfrm>
            <a:off x="914400" y="4343400"/>
            <a:ext cx="2605680" cy="3168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1" name="TextBox 9"/>
          <p:cNvSpPr/>
          <p:nvPr/>
        </p:nvSpPr>
        <p:spPr>
          <a:xfrm>
            <a:off x="914400" y="46177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Estate Management / Collection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2" name="Rounded Rectangle 10"/>
          <p:cNvSpPr/>
          <p:nvPr/>
        </p:nvSpPr>
        <p:spPr>
          <a:xfrm>
            <a:off x="4160520" y="1783080"/>
            <a:ext cx="3062880" cy="352008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3" name="TextBox 11"/>
          <p:cNvSpPr/>
          <p:nvPr/>
        </p:nvSpPr>
        <p:spPr>
          <a:xfrm>
            <a:off x="4389120" y="201168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E8A94C"/>
                </a:solidFill>
                <a:effectLst/>
                <a:uFillTx/>
                <a:latin typeface="Aptos"/>
              </a:rPr>
              <a:t>02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4" name="TextBox 12"/>
          <p:cNvSpPr/>
          <p:nvPr/>
        </p:nvSpPr>
        <p:spPr>
          <a:xfrm>
            <a:off x="4389120" y="25146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BERSIHKAN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5" name="TextBox 13"/>
          <p:cNvSpPr/>
          <p:nvPr/>
        </p:nvSpPr>
        <p:spPr>
          <a:xfrm>
            <a:off x="4389120" y="3154680"/>
            <a:ext cx="2514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Standardisasi metode pembayaran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dan lengkapi data kontak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6" name="Rectangle 14"/>
          <p:cNvSpPr/>
          <p:nvPr/>
        </p:nvSpPr>
        <p:spPr>
          <a:xfrm>
            <a:off x="4389120" y="4343400"/>
            <a:ext cx="2605680" cy="31680"/>
          </a:xfrm>
          <a:prstGeom prst="rect">
            <a:avLst/>
          </a:prstGeom>
          <a:solidFill>
            <a:srgbClr val="E8A94C"/>
          </a:solidFill>
          <a:ln>
            <a:solidFill>
              <a:srgbClr val="E8A94C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7" name="TextBox 15"/>
          <p:cNvSpPr/>
          <p:nvPr/>
        </p:nvSpPr>
        <p:spPr>
          <a:xfrm>
            <a:off x="4389120" y="46177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Keuangan / Operasional Data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78" name="Rounded Rectangle 16"/>
          <p:cNvSpPr/>
          <p:nvPr/>
        </p:nvSpPr>
        <p:spPr>
          <a:xfrm>
            <a:off x="7635240" y="1783080"/>
            <a:ext cx="3062880" cy="3520080"/>
          </a:xfrm>
          <a:prstGeom prst="roundRect">
            <a:avLst>
              <a:gd name="adj" fmla="val 16667"/>
            </a:avLst>
          </a:prstGeom>
          <a:solidFill>
            <a:srgbClr val="17263A"/>
          </a:solidFill>
          <a:ln>
            <a:solidFill>
              <a:srgbClr val="2D3C4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79" name="TextBox 17"/>
          <p:cNvSpPr/>
          <p:nvPr/>
        </p:nvSpPr>
        <p:spPr>
          <a:xfrm>
            <a:off x="7863840" y="2011680"/>
            <a:ext cx="50256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DA6559"/>
                </a:solidFill>
                <a:effectLst/>
                <a:uFillTx/>
                <a:latin typeface="Aptos"/>
              </a:rPr>
              <a:t>03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0" name="TextBox 18"/>
          <p:cNvSpPr/>
          <p:nvPr/>
        </p:nvSpPr>
        <p:spPr>
          <a:xfrm>
            <a:off x="7863840" y="2514600"/>
            <a:ext cx="255996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KENDALIKAN</a:t>
            </a:r>
            <a:endParaRPr lang="en-US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1" name="TextBox 19"/>
          <p:cNvSpPr/>
          <p:nvPr/>
        </p:nvSpPr>
        <p:spPr>
          <a:xfrm>
            <a:off x="7863840" y="3154680"/>
            <a:ext cx="2514240" cy="914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Blokir atau tandai tanggal yang tidak mungkin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dan input meter yang ekstrem</a:t>
            </a:r>
            <a:endParaRPr lang="en-US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2" name="Rectangle 20"/>
          <p:cNvSpPr/>
          <p:nvPr/>
        </p:nvSpPr>
        <p:spPr>
          <a:xfrm>
            <a:off x="7863840" y="4343400"/>
            <a:ext cx="2605680" cy="31680"/>
          </a:xfrm>
          <a:prstGeom prst="rect">
            <a:avLst/>
          </a:prstGeom>
          <a:solidFill>
            <a:srgbClr val="DA6559"/>
          </a:solidFill>
          <a:ln>
            <a:solidFill>
              <a:srgbClr val="DA65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2960" rIns="90000" bIns="-1296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3" name="TextBox 21"/>
          <p:cNvSpPr/>
          <p:nvPr/>
        </p:nvSpPr>
        <p:spPr>
          <a:xfrm>
            <a:off x="7863840" y="4617720"/>
            <a:ext cx="25599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0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IT / ERP / Operasional Township</a:t>
            </a:r>
            <a:endParaRPr lang="en-US" sz="10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4" name="TextBox 22"/>
          <p:cNvSpPr/>
          <p:nvPr/>
        </p:nvSpPr>
        <p:spPr>
          <a:xfrm>
            <a:off x="731520" y="5623560"/>
            <a:ext cx="16455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4FBEB2"/>
                </a:solidFill>
                <a:effectLst/>
                <a:uFillTx/>
                <a:latin typeface="Aptos"/>
              </a:rPr>
              <a:t>Langkah berikutnya</a:t>
            </a:r>
            <a:endParaRPr lang="en-US" sz="1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5" name="TextBox 23"/>
          <p:cNvSpPr/>
          <p:nvPr/>
        </p:nvSpPr>
        <p:spPr>
          <a:xfrm>
            <a:off x="2148840" y="5596200"/>
            <a:ext cx="88693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50" b="1" u="none" strike="noStrike">
                <a:solidFill>
                  <a:srgbClr val="FFFFFF"/>
                </a:solidFill>
                <a:effectLst/>
                <a:uFillTx/>
                <a:latin typeface="Aptos"/>
              </a:rPr>
              <a:t>Ubah hasil flag analisis menjadi dashboard Estate Management yang diperbarui setiap bulan dan memantau exception.</a:t>
            </a:r>
            <a:endParaRPr lang="en-US" sz="12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6" name="TextBox 24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87" name="TextBox 25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A8B4BE"/>
                </a:solidFill>
                <a:effectLst/>
                <a:uFillTx/>
                <a:latin typeface="Aptos"/>
              </a:rPr>
              <a:t>15</a:t>
            </a:r>
            <a:endParaRPr lang="en-US" sz="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4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extBox 1"/>
          <p:cNvSpPr/>
          <p:nvPr/>
        </p:nvSpPr>
        <p:spPr>
          <a:xfrm>
            <a:off x="594360" y="38412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9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LAMPIRAN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9" name="TextBox 2"/>
          <p:cNvSpPr/>
          <p:nvPr/>
        </p:nvSpPr>
        <p:spPr>
          <a:xfrm>
            <a:off x="594360" y="694800"/>
            <a:ext cx="1088100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270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Lampiran — metodologi &amp; definisi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0" name="Rectangle 3"/>
          <p:cNvSpPr/>
          <p:nvPr/>
        </p:nvSpPr>
        <p:spPr>
          <a:xfrm>
            <a:off x="594360" y="1398960"/>
            <a:ext cx="1051200" cy="50040"/>
          </a:xfrm>
          <a:prstGeom prst="rect">
            <a:avLst/>
          </a:prstGeom>
          <a:solidFill>
            <a:srgbClr val="29918B"/>
          </a:solidFill>
          <a:ln>
            <a:solidFill>
              <a:srgbClr val="29918B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5400" rIns="90000" bIns="5400" anchor="ctr">
            <a:noAutofit/>
          </a:bodyPr>
          <a:lstStyle/>
          <a:p>
            <a:pPr algn="ctr" defTabSz="457200">
              <a:lnSpc>
                <a:spcPct val="100000"/>
              </a:lnSpc>
            </a:pPr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91" name="TextBox 4"/>
          <p:cNvSpPr/>
          <p:nvPr/>
        </p:nvSpPr>
        <p:spPr>
          <a:xfrm>
            <a:off x="685800" y="1691640"/>
            <a:ext cx="36572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3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Definisi utama yang digunakan dalam analisis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2" name="TextBox 5"/>
          <p:cNvSpPr/>
          <p:nvPr/>
        </p:nvSpPr>
        <p:spPr>
          <a:xfrm>
            <a:off x="777240" y="21488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Outstanding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3" name="TextBox 6"/>
          <p:cNvSpPr/>
          <p:nvPr/>
        </p:nvSpPr>
        <p:spPr>
          <a:xfrm>
            <a:off x="2606040" y="213048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Status invoice = Unpaid atau Overdue; nilai menggunakan total_amount.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4" name="TextBox 7"/>
          <p:cNvSpPr/>
          <p:nvPr/>
        </p:nvSpPr>
        <p:spPr>
          <a:xfrm>
            <a:off x="777240" y="274320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Rasio tunggakan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5" name="TextBox 8"/>
          <p:cNvSpPr/>
          <p:nvPr/>
        </p:nvSpPr>
        <p:spPr>
          <a:xfrm>
            <a:off x="2606040" y="272484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(Invoice Unpaid + Overdue) / total invoice.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6" name="TextBox 9"/>
          <p:cNvSpPr/>
          <p:nvPr/>
        </p:nvSpPr>
        <p:spPr>
          <a:xfrm>
            <a:off x="777240" y="333756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Anomali sebelum handover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7" name="TextBox 10"/>
          <p:cNvSpPr/>
          <p:nvPr/>
        </p:nvSpPr>
        <p:spPr>
          <a:xfrm>
            <a:off x="2606040" y="331920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Invoice Paid dengan payment_date lebih awal daripada handover_date.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11"/>
          <p:cNvSpPr/>
          <p:nvPr/>
        </p:nvSpPr>
        <p:spPr>
          <a:xfrm>
            <a:off x="777240" y="393192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Water Outlier IQR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9" name="TextBox 12"/>
          <p:cNvSpPr/>
          <p:nvPr/>
        </p:nvSpPr>
        <p:spPr>
          <a:xfrm>
            <a:off x="2606040" y="391356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water_usage_m3 &gt; Q3 + 1,5 × IQR.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0" name="TextBox 13"/>
          <p:cNvSpPr/>
          <p:nvPr/>
        </p:nvSpPr>
        <p:spPr>
          <a:xfrm>
            <a:off x="777240" y="452628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Tunggakan kronis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1" name="TextBox 14"/>
          <p:cNvSpPr/>
          <p:nvPr/>
        </p:nvSpPr>
        <p:spPr>
          <a:xfrm>
            <a:off x="2606040" y="450792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Lebih dari enam bulan billing berturut-turut dalam status tunggakan pada unit yang sama.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2" name="TextBox 15"/>
          <p:cNvSpPr/>
          <p:nvPr/>
        </p:nvSpPr>
        <p:spPr>
          <a:xfrm>
            <a:off x="777240" y="5120640"/>
            <a:ext cx="182844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1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Uji asosiasi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3" name="TextBox 16"/>
          <p:cNvSpPr/>
          <p:nvPr/>
        </p:nvSpPr>
        <p:spPr>
          <a:xfrm>
            <a:off x="2606040" y="5102280"/>
            <a:ext cx="8412120" cy="411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50" b="0" u="none" strike="noStrike">
                <a:solidFill>
                  <a:srgbClr val="555A5F"/>
                </a:solidFill>
                <a:effectLst/>
                <a:uFillTx/>
                <a:latin typeface="Aptos"/>
              </a:rPr>
              <a:t>Chi-square menguji hubungan status hunian vs status pembayaran; Cramer's V mengukur kekuatan asosiasi.</a:t>
            </a:r>
            <a:endParaRPr lang="en-US" sz="11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17"/>
          <p:cNvSpPr/>
          <p:nvPr/>
        </p:nvSpPr>
        <p:spPr>
          <a:xfrm>
            <a:off x="685800" y="5715000"/>
            <a:ext cx="1188360" cy="273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200" b="1" u="none" strike="noStrike">
                <a:solidFill>
                  <a:srgbClr val="29918B"/>
                </a:solidFill>
                <a:effectLst/>
                <a:uFillTx/>
                <a:latin typeface="Aptos"/>
              </a:rPr>
              <a:t>Cakupan data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18"/>
          <p:cNvSpPr/>
          <p:nvPr/>
        </p:nvSpPr>
        <p:spPr>
          <a:xfrm>
            <a:off x="1737360" y="5687640"/>
            <a:ext cx="9326520" cy="319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1100" b="0" u="none" strike="noStrike">
                <a:solidFill>
                  <a:srgbClr val="202933"/>
                </a:solidFill>
                <a:effectLst/>
                <a:uFillTx/>
                <a:latin typeface="Aptos"/>
              </a:rPr>
              <a:t>3 dataset • 100 cluster • 25.000 unit • 300.000 invoice • periode billing 2018–2024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6" name="TextBox 19"/>
          <p:cNvSpPr/>
          <p:nvPr/>
        </p:nvSpPr>
        <p:spPr>
          <a:xfrm>
            <a:off x="594360" y="651960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defTabSz="457200">
              <a:lnSpc>
                <a:spcPct val="100000"/>
              </a:lnSpc>
            </a:pPr>
            <a:r>
              <a:rPr lang="en-US" sz="75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SINAR MAS LAND • CAPSTONE 2 • ANALISIS DATA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7" name="TextBox 20"/>
          <p:cNvSpPr/>
          <p:nvPr/>
        </p:nvSpPr>
        <p:spPr>
          <a:xfrm>
            <a:off x="11155680" y="6473880"/>
            <a:ext cx="41112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7360" tIns="27360" rIns="27360" bIns="27360" anchor="t">
            <a:spAutoFit/>
          </a:bodyPr>
          <a:lstStyle/>
          <a:p>
            <a:pPr algn="r" defTabSz="457200">
              <a:lnSpc>
                <a:spcPct val="100000"/>
              </a:lnSpc>
            </a:pPr>
            <a:r>
              <a:rPr lang="en-US" sz="800" b="0" u="none" strike="noStrike">
                <a:solidFill>
                  <a:srgbClr val="787D7D"/>
                </a:solidFill>
                <a:effectLst/>
                <a:uFillTx/>
                <a:latin typeface="Aptos"/>
              </a:rPr>
              <a:t>16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239</TotalTime>
  <Words>1444</Words>
  <Application>Microsoft Office PowerPoint</Application>
  <PresentationFormat>Layar Lebar</PresentationFormat>
  <Paragraphs>254</Paragraphs>
  <Slides>16</Slides>
  <Notes>0</Notes>
  <HiddenSlides>0</HiddenSlides>
  <MMClips>0</MMClips>
  <ScaleCrop>false</ScaleCrop>
  <HeadingPairs>
    <vt:vector size="6" baseType="variant">
      <vt:variant>
        <vt:lpstr>Font Dipakai</vt:lpstr>
      </vt:variant>
      <vt:variant>
        <vt:i4>6</vt:i4>
      </vt:variant>
      <vt:variant>
        <vt:lpstr>Tema</vt:lpstr>
      </vt:variant>
      <vt:variant>
        <vt:i4>1</vt:i4>
      </vt:variant>
      <vt:variant>
        <vt:lpstr>Judul Slide</vt:lpstr>
      </vt:variant>
      <vt:variant>
        <vt:i4>16</vt:i4>
      </vt:variant>
    </vt:vector>
  </HeadingPairs>
  <TitlesOfParts>
    <vt:vector size="23" baseType="lpstr">
      <vt:lpstr>Aptos</vt:lpstr>
      <vt:lpstr>Arial</vt:lpstr>
      <vt:lpstr>Calibri</vt:lpstr>
      <vt:lpstr>Symbol</vt:lpstr>
      <vt:lpstr>Times New Roman</vt:lpstr>
      <vt:lpstr>Wingdings</vt:lpstr>
      <vt:lpstr>Office Theme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  <vt:lpstr>Presentasi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Rismono Smile</cp:lastModifiedBy>
  <cp:revision>1</cp:revision>
  <dcterms:modified xsi:type="dcterms:W3CDTF">2026-10-06T11:33:14Z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